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2" r:id="rId6"/>
    <p:sldId id="265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C6B1"/>
    <a:srgbClr val="0C3B36"/>
    <a:srgbClr val="11A392"/>
    <a:srgbClr val="0F766E"/>
    <a:srgbClr val="39E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53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388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שם האפליקציה SpendWise, ניהול וניתוח הוצאות חכם. מפתח: ארד רותם. מצגת פרויקט כיתתית.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הצורך: אנשים מתקשים לעקוב אחרי כסף, נשענים על טבלאות מסובכות או לא עוקבים בכלל. סקירת מתחרים: כל אחד פותר חלק מהבעיה אבל לא את כולה.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הפיצ'רים המרכזיים בארבע קבוצות. יישומי השרת: בחרנו ב-Firebase — Authentication להרשמה, Firestore לנתונים, Storage לתמונות קבלה, ו-API חיצוני להמרת מטבע.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מסך הבית: סיכום מהיר — כמה נשאר בתקציב, הכנסות מול הוצאות, גרף יומי ותובנה.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ניתוחים: עוגת קטגוריות, השוואה בין חודשים, ותובנות חכמות כולל תחזית חריגה.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סיכום: SpendWise משלבת ניהול אישי, ניתוח נתונים ושיתוף בקבוצה. תודה.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8250" y="6477000"/>
            <a:ext cx="4953000" cy="4953000"/>
          </a:xfrm>
          <a:prstGeom prst="ellipse">
            <a:avLst/>
          </a:prstGeom>
          <a:ln w="254000">
            <a:solidFill>
              <a:srgbClr val="5EEA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10496550" y="1911102"/>
            <a:ext cx="323850" cy="323850"/>
          </a:xfrm>
          <a:prstGeom prst="ellipse">
            <a:avLst/>
          </a:prstGeom>
          <a:solidFill>
            <a:srgbClr val="0C3B36"/>
          </a:solidFill>
          <a:ln/>
        </p:spPr>
        <p:txBody>
          <a:bodyPr/>
          <a:lstStyle/>
          <a:p>
            <a:endParaRPr lang="he-IL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01EE7A-5AA7-81CC-BD63-9F076BB36828}"/>
              </a:ext>
            </a:extLst>
          </p:cNvPr>
          <p:cNvGrpSpPr/>
          <p:nvPr/>
        </p:nvGrpSpPr>
        <p:grpSpPr>
          <a:xfrm>
            <a:off x="6182793" y="1165122"/>
            <a:ext cx="4851080" cy="2190750"/>
            <a:chOff x="6461286" y="1228293"/>
            <a:chExt cx="4851080" cy="2190750"/>
          </a:xfrm>
        </p:grpSpPr>
        <p:sp>
          <p:nvSpPr>
            <p:cNvPr id="3" name="Shape 1"/>
            <p:cNvSpPr/>
            <p:nvPr/>
          </p:nvSpPr>
          <p:spPr>
            <a:xfrm>
              <a:off x="7791451" y="1228293"/>
              <a:ext cx="2190750" cy="2190750"/>
            </a:xfrm>
            <a:prstGeom prst="ellipse">
              <a:avLst/>
            </a:prstGeom>
            <a:ln w="254000">
              <a:solidFill>
                <a:srgbClr val="39EBD6">
                  <a:alpha val="6667"/>
                </a:srgbClr>
              </a:solidFill>
              <a:prstDash val="solid"/>
            </a:ln>
          </p:spPr>
          <p:txBody>
            <a:bodyPr/>
            <a:lstStyle/>
            <a:p>
              <a:endParaRPr lang="he-IL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6461286" y="1948790"/>
              <a:ext cx="4851080" cy="88759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6000" b="1" kern="0" spc="38" dirty="0">
                  <a:solidFill>
                    <a:srgbClr val="EAFA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Spend</a:t>
              </a:r>
              <a:r>
                <a:rPr lang="en-US" sz="6000" b="1" kern="0" spc="38" dirty="0">
                  <a:solidFill>
                    <a:srgbClr val="5EEA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Wise</a:t>
              </a:r>
              <a:endParaRPr lang="en-US" sz="60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1238250" y="3835152"/>
            <a:ext cx="16285845" cy="233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850" b="1" kern="0" spc="-75" dirty="0">
                <a:solidFill>
                  <a:srgbClr val="E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וניתוח </a:t>
            </a:r>
            <a:r>
              <a:rPr lang="en-US" sz="8850" b="1" kern="0" spc="-75" dirty="0">
                <a:solidFill>
                  <a:srgbClr val="14C6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הוצאות</a:t>
            </a:r>
            <a:r>
              <a:rPr lang="en-US" sz="8850" b="1" kern="0" spc="-75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חכם</a:t>
            </a:r>
            <a:endParaRPr lang="en-US" sz="8850" dirty="0"/>
          </a:p>
        </p:txBody>
      </p:sp>
      <p:sp>
        <p:nvSpPr>
          <p:cNvPr id="9" name="Text 7"/>
          <p:cNvSpPr/>
          <p:nvPr/>
        </p:nvSpPr>
        <p:spPr>
          <a:xfrm>
            <a:off x="8207782" y="5530914"/>
            <a:ext cx="86334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algn="r" rtl="1">
              <a:lnSpc>
                <a:spcPct val="150000"/>
              </a:lnSpc>
            </a:pPr>
            <a:r>
              <a:rPr lang="he-IL" sz="3200" dirty="0">
                <a:solidFill>
                  <a:schemeClr val="bg1"/>
                </a:solidFill>
              </a:rPr>
              <a:t>אפליקציה חכמה לניהול וניתוח הוצאות אישיות ומשותפות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545651" y="9087324"/>
            <a:ext cx="3943350" cy="1075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 rtl="1">
              <a:buNone/>
            </a:pPr>
            <a:r>
              <a:rPr lang="he-IL" sz="2800" b="1" dirty="0">
                <a:solidFill>
                  <a:srgbClr val="E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מגיש: ארד רותם</a:t>
            </a:r>
            <a:endParaRPr lang="en-US" sz="2800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D2ADE55F-83F5-4827-456A-407CBD1D8C26}"/>
              </a:ext>
            </a:extLst>
          </p:cNvPr>
          <p:cNvSpPr/>
          <p:nvPr/>
        </p:nvSpPr>
        <p:spPr>
          <a:xfrm>
            <a:off x="14649450" y="6413748"/>
            <a:ext cx="4953000" cy="4953000"/>
          </a:xfrm>
          <a:prstGeom prst="ellipse">
            <a:avLst/>
          </a:prstGeom>
          <a:ln w="254000">
            <a:solidFill>
              <a:srgbClr val="5EEA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159202-FAA8-2012-EA24-89757618D88E}"/>
              </a:ext>
            </a:extLst>
          </p:cNvPr>
          <p:cNvSpPr txBox="1"/>
          <p:nvPr/>
        </p:nvSpPr>
        <p:spPr>
          <a:xfrm>
            <a:off x="2670629" y="8122026"/>
            <a:ext cx="11875408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rtl="1"/>
            <a:r>
              <a:rPr lang="he-IL" sz="4000" b="1" dirty="0">
                <a:ln w="22225">
                  <a:solidFill>
                    <a:srgbClr val="39EBD6"/>
                  </a:solidFill>
                  <a:prstDash val="solid"/>
                </a:ln>
                <a:solidFill>
                  <a:srgbClr val="11A392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מהוצאה בודדת לתמונה כלכלית מלאה</a:t>
            </a: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B5C5DCE4-7A44-6476-915A-2326C32F090D}"/>
              </a:ext>
            </a:extLst>
          </p:cNvPr>
          <p:cNvSpPr/>
          <p:nvPr/>
        </p:nvSpPr>
        <p:spPr>
          <a:xfrm>
            <a:off x="-642499" y="622216"/>
            <a:ext cx="2344877" cy="2196771"/>
          </a:xfrm>
          <a:prstGeom prst="ellipse">
            <a:avLst/>
          </a:prstGeom>
          <a:ln w="254000">
            <a:solidFill>
              <a:srgbClr val="5EEA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D9355D9A-59C3-CC48-71C2-C15C9B429B63}"/>
              </a:ext>
            </a:extLst>
          </p:cNvPr>
          <p:cNvSpPr/>
          <p:nvPr/>
        </p:nvSpPr>
        <p:spPr>
          <a:xfrm>
            <a:off x="15144124" y="-968478"/>
            <a:ext cx="2344877" cy="2196771"/>
          </a:xfrm>
          <a:prstGeom prst="ellipse">
            <a:avLst/>
          </a:prstGeom>
          <a:ln w="254000">
            <a:solidFill>
              <a:srgbClr val="5EEA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>
            <a:extLst>
              <a:ext uri="{FF2B5EF4-FFF2-40B4-BE49-F238E27FC236}">
                <a16:creationId xmlns:a16="http://schemas.microsoft.com/office/drawing/2014/main" id="{86298AFD-1D15-10C9-C13C-0F3B5FC21DAF}"/>
              </a:ext>
            </a:extLst>
          </p:cNvPr>
          <p:cNvSpPr/>
          <p:nvPr/>
        </p:nvSpPr>
        <p:spPr>
          <a:xfrm>
            <a:off x="12485071" y="8837636"/>
            <a:ext cx="2344877" cy="2196771"/>
          </a:xfrm>
          <a:prstGeom prst="ellipse">
            <a:avLst/>
          </a:prstGeom>
          <a:ln w="254000">
            <a:solidFill>
              <a:schemeClr val="tx1">
                <a:alpha val="1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627934" y="134690"/>
            <a:ext cx="1257300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4650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 להוציא כסף -</a:t>
            </a:r>
            <a:r>
              <a:rPr lang="he-IL" sz="4650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650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קשה להבין לאן הוא הולך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914400" y="742283"/>
            <a:ext cx="17263272" cy="1052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r" rtl="1"/>
            <a:r>
              <a:rPr lang="he-IL" sz="2400" dirty="0"/>
              <a:t>אנשים מתקשים להבין לאן הכסף שלהם הולך, במיוחד כשיש הוצאות רבות, קבוצות, שותפים או תקציב מוגבל</a:t>
            </a:r>
          </a:p>
          <a:p>
            <a:pPr algn="r" rtl="1"/>
            <a:r>
              <a:rPr lang="he-IL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רובם </a:t>
            </a: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לא יודעים כמה הם מוציאים בכל </a:t>
            </a:r>
            <a:r>
              <a:rPr lang="en-US" sz="2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חודש</a:t>
            </a:r>
            <a:r>
              <a:rPr lang="he-IL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 ו</a:t>
            </a:r>
            <a:r>
              <a:rPr lang="en-US" sz="2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באילו</a:t>
            </a: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קטגוריות</a:t>
            </a:r>
            <a:r>
              <a:rPr lang="he-IL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 הם הוציאו יותר לעומת חודשים קודמים</a:t>
            </a:r>
            <a:b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62179" y="2126794"/>
            <a:ext cx="2433917" cy="1052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מתחרים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318584" y="7135285"/>
            <a:ext cx="4392641" cy="2196771"/>
          </a:xfrm>
          <a:prstGeom prst="roundRect">
            <a:avLst>
              <a:gd name="adj" fmla="val 12346"/>
            </a:avLst>
          </a:prstGeom>
          <a:solidFill>
            <a:srgbClr val="11A392"/>
          </a:solidFill>
          <a:ln w="9525">
            <a:solidFill>
              <a:srgbClr val="DDE7E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3568194" y="7289610"/>
            <a:ext cx="4095841" cy="474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/ YNAB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318585" y="7746616"/>
            <a:ext cx="4156746" cy="827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ניתוח חזק אך מורכב, מותאם לשוק האמריקאי ולא לשקלים או להרגלים מקומיים.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341002" y="4867801"/>
            <a:ext cx="4345451" cy="2083012"/>
          </a:xfrm>
          <a:prstGeom prst="roundRect">
            <a:avLst>
              <a:gd name="adj" fmla="val 12346"/>
            </a:avLst>
          </a:prstGeom>
          <a:solidFill>
            <a:srgbClr val="14C6B1"/>
          </a:solidFill>
          <a:ln w="9525">
            <a:solidFill>
              <a:srgbClr val="DDE7E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3617303" y="4979555"/>
            <a:ext cx="3614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RiseUp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617303" y="5264571"/>
            <a:ext cx="361473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מתחבר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לבנק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אוטומטית</a:t>
            </a:r>
            <a:b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אך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כמעט ללא ניהול קבוצות ושיתוף הוצאות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בין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משתמשים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392556" y="2671619"/>
            <a:ext cx="4233730" cy="1927045"/>
          </a:xfrm>
          <a:prstGeom prst="roundRect">
            <a:avLst>
              <a:gd name="adj" fmla="val 12346"/>
            </a:avLst>
          </a:prstGeom>
          <a:solidFill>
            <a:srgbClr val="39EBD6"/>
          </a:solidFill>
          <a:ln w="9525">
            <a:solidFill>
              <a:srgbClr val="DDE7E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3702052" y="2839325"/>
            <a:ext cx="3614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Splitwise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241601" y="3080901"/>
            <a:ext cx="4233730" cy="811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מצוין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לחלוקת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הוצאות בקבוצה 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אבל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לא נותן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ניתוח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אישי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תקציב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או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תובנות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12140" y="2126794"/>
            <a:ext cx="11991108" cy="8025516"/>
          </a:xfrm>
          <a:prstGeom prst="roundRect">
            <a:avLst>
              <a:gd name="adj" fmla="val 12346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3043524" y="2220535"/>
            <a:ext cx="7200252" cy="1174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 rtl="1">
              <a:buNone/>
            </a:pPr>
            <a:r>
              <a:rPr lang="he-IL" sz="3200" b="1" dirty="0">
                <a:solidFill>
                  <a:srgbClr val="EAFAF6"/>
                </a:solidFill>
                <a:latin typeface="Arial" pitchFamily="34" charset="0"/>
                <a:cs typeface="Arial" pitchFamily="34" charset="-120"/>
              </a:rPr>
              <a:t>מה </a:t>
            </a:r>
            <a:r>
              <a:rPr lang="en-US" sz="4000" b="1" dirty="0">
                <a:solidFill>
                  <a:srgbClr val="EAFAF6"/>
                </a:solidFill>
                <a:latin typeface="Arial" pitchFamily="34" charset="0"/>
                <a:cs typeface="Arial" pitchFamily="34" charset="-120"/>
              </a:rPr>
              <a:t>Spend</a:t>
            </a:r>
            <a:r>
              <a:rPr lang="en-US" sz="4000" b="1" dirty="0">
                <a:solidFill>
                  <a:srgbClr val="14C6B1"/>
                </a:solidFill>
                <a:latin typeface="Arial" pitchFamily="34" charset="0"/>
                <a:cs typeface="Arial" pitchFamily="34" charset="-120"/>
              </a:rPr>
              <a:t>Wise </a:t>
            </a:r>
            <a:r>
              <a:rPr lang="he-IL" sz="4000" b="1" dirty="0">
                <a:solidFill>
                  <a:srgbClr val="14C6B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he-IL" sz="3200" b="1" dirty="0">
                <a:solidFill>
                  <a:srgbClr val="EAFAF6"/>
                </a:solidFill>
                <a:latin typeface="Arial" pitchFamily="34" charset="0"/>
                <a:cs typeface="Arial" pitchFamily="34" charset="-120"/>
              </a:rPr>
              <a:t> מביא?</a:t>
            </a:r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7BB394-25AF-5C2C-A5D7-DE5CEEBA2DFD}"/>
              </a:ext>
            </a:extLst>
          </p:cNvPr>
          <p:cNvSpPr txBox="1"/>
          <p:nvPr/>
        </p:nvSpPr>
        <p:spPr>
          <a:xfrm>
            <a:off x="601547" y="2865172"/>
            <a:ext cx="10276418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600" dirty="0">
                <a:solidFill>
                  <a:schemeClr val="bg1"/>
                </a:solidFill>
              </a:rPr>
              <a:t>מאפשרת למשתמש להזין ולעקוב אחר הכנסות והוצאות 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he-IL" sz="2600" dirty="0">
                <a:solidFill>
                  <a:schemeClr val="bg1"/>
                </a:solidFill>
              </a:rPr>
              <a:t>ומציגה סיכום חודשי ברור של המצב הכלכלי </a:t>
            </a:r>
            <a:br>
              <a:rPr lang="en-US" sz="2600" dirty="0">
                <a:solidFill>
                  <a:schemeClr val="bg1"/>
                </a:solidFill>
              </a:rPr>
            </a:br>
            <a:endParaRPr lang="he-IL" sz="2600" dirty="0">
              <a:solidFill>
                <a:schemeClr val="bg1"/>
              </a:solidFill>
            </a:endParaRPr>
          </a:p>
          <a:p>
            <a:pPr algn="r" rtl="1"/>
            <a:r>
              <a:rPr lang="he-IL" sz="2600" dirty="0">
                <a:solidFill>
                  <a:schemeClr val="bg1"/>
                </a:solidFill>
              </a:rPr>
              <a:t>מנתחת את ההוצאות לפי קטגוריות, תאריכים ובתי עסק. 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he-IL" sz="2600" dirty="0">
                <a:solidFill>
                  <a:schemeClr val="bg1"/>
                </a:solidFill>
              </a:rPr>
              <a:t>מציגה גרפים, מגמות והשוואות בין חודשים </a:t>
            </a:r>
            <a:br>
              <a:rPr lang="en-US" sz="2600" dirty="0">
                <a:solidFill>
                  <a:schemeClr val="bg1"/>
                </a:solidFill>
              </a:rPr>
            </a:br>
            <a:endParaRPr lang="he-IL" sz="2600" dirty="0">
              <a:solidFill>
                <a:schemeClr val="bg1"/>
              </a:solidFill>
            </a:endParaRPr>
          </a:p>
          <a:p>
            <a:pPr algn="r" rtl="1"/>
            <a:r>
              <a:rPr lang="he-IL" sz="2600" dirty="0">
                <a:solidFill>
                  <a:schemeClr val="bg1"/>
                </a:solidFill>
              </a:rPr>
              <a:t>מזהה הוצאות חריגות ושינויים בהרגלי הצריכה </a:t>
            </a:r>
            <a:br>
              <a:rPr lang="en-US" sz="2600" dirty="0">
                <a:solidFill>
                  <a:schemeClr val="bg1"/>
                </a:solidFill>
              </a:rPr>
            </a:br>
            <a:endParaRPr lang="he-IL" sz="2600" dirty="0">
              <a:solidFill>
                <a:schemeClr val="bg1"/>
              </a:solidFill>
            </a:endParaRPr>
          </a:p>
          <a:p>
            <a:pPr algn="r" rtl="1"/>
            <a:r>
              <a:rPr lang="he-IL" sz="2600" dirty="0">
                <a:solidFill>
                  <a:schemeClr val="bg1"/>
                </a:solidFill>
              </a:rPr>
              <a:t>מאפשרת לצרף תמונות של קבלות לכל הוצאה 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he-IL" sz="2600" dirty="0">
                <a:solidFill>
                  <a:schemeClr val="bg1"/>
                </a:solidFill>
              </a:rPr>
              <a:t>ומכניסה את המוצרים מהקבלה לטבלה בשביל מעקב מחירים </a:t>
            </a:r>
            <a:br>
              <a:rPr lang="en-US" sz="2600" dirty="0">
                <a:solidFill>
                  <a:schemeClr val="bg1"/>
                </a:solidFill>
              </a:rPr>
            </a:br>
            <a:endParaRPr lang="he-IL" sz="2600" dirty="0">
              <a:solidFill>
                <a:schemeClr val="bg1"/>
              </a:solidFill>
            </a:endParaRPr>
          </a:p>
          <a:p>
            <a:pPr algn="r" rtl="1"/>
            <a:r>
              <a:rPr lang="he-IL" sz="2600" dirty="0">
                <a:solidFill>
                  <a:schemeClr val="bg1"/>
                </a:solidFill>
              </a:rPr>
              <a:t>תומכת בקבוצות משותפות לשותפים, זוגות, משפחות וטיולים. 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he-IL" sz="2600" dirty="0">
                <a:solidFill>
                  <a:schemeClr val="bg1"/>
                </a:solidFill>
              </a:rPr>
              <a:t>ומחלקת הוצאות בין משתמשים ומחשבת מי חייב למי </a:t>
            </a:r>
            <a:br>
              <a:rPr lang="en-US" sz="2600" dirty="0">
                <a:solidFill>
                  <a:schemeClr val="bg1"/>
                </a:solidFill>
              </a:rPr>
            </a:br>
            <a:br>
              <a:rPr lang="en-US" sz="2600" dirty="0">
                <a:solidFill>
                  <a:schemeClr val="bg1"/>
                </a:solidFill>
              </a:rPr>
            </a:br>
            <a:r>
              <a:rPr lang="he-IL" sz="2600" dirty="0">
                <a:solidFill>
                  <a:schemeClr val="bg1"/>
                </a:solidFill>
              </a:rPr>
              <a:t>שומרת את כל הנתונים בענן ומסנכרנת אותם בין מכשירים</a:t>
            </a:r>
          </a:p>
        </p:txBody>
      </p:sp>
      <p:pic>
        <p:nvPicPr>
          <p:cNvPr id="37" name="Graphic 36" descr="Bar chart with solid fill">
            <a:extLst>
              <a:ext uri="{FF2B5EF4-FFF2-40B4-BE49-F238E27FC236}">
                <a16:creationId xmlns:a16="http://schemas.microsoft.com/office/drawing/2014/main" id="{2D513077-4B38-B74F-6A94-83932836F2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8610" y="3877868"/>
            <a:ext cx="1265632" cy="1265632"/>
          </a:xfrm>
          <a:prstGeom prst="rect">
            <a:avLst/>
          </a:prstGeom>
        </p:spPr>
      </p:pic>
      <p:pic>
        <p:nvPicPr>
          <p:cNvPr id="39" name="Graphic 38" descr="Harvey Balls 65% with solid fill">
            <a:extLst>
              <a:ext uri="{FF2B5EF4-FFF2-40B4-BE49-F238E27FC236}">
                <a16:creationId xmlns:a16="http://schemas.microsoft.com/office/drawing/2014/main" id="{EF7F8E8D-B4BC-8A48-1C08-8356A171D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6250" y="2807738"/>
            <a:ext cx="966896" cy="96689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3E869A8-01A2-8B53-FA5F-8813C6B2A5B0}"/>
              </a:ext>
            </a:extLst>
          </p:cNvPr>
          <p:cNvSpPr txBox="1"/>
          <p:nvPr/>
        </p:nvSpPr>
        <p:spPr>
          <a:xfrm>
            <a:off x="2002756" y="1587687"/>
            <a:ext cx="16186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הפתרונות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הקיימים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הם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טבלאות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מסובכות</a:t>
            </a:r>
            <a:r>
              <a:rPr lang="he-IL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ו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אפליקציות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שרק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רושמות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מספרים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בלי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לתת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תובנה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אמיתית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או שלא נותנים תובנות בהוצאות קבוצתיות</a:t>
            </a:r>
            <a:endParaRPr lang="he-IL" sz="2000" dirty="0"/>
          </a:p>
        </p:txBody>
      </p:sp>
      <p:pic>
        <p:nvPicPr>
          <p:cNvPr id="43" name="Graphic 42" descr="Warning with solid fill">
            <a:extLst>
              <a:ext uri="{FF2B5EF4-FFF2-40B4-BE49-F238E27FC236}">
                <a16:creationId xmlns:a16="http://schemas.microsoft.com/office/drawing/2014/main" id="{C8AA923C-CE3E-0F1B-B618-FD02888A9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4735" y="4931196"/>
            <a:ext cx="914400" cy="914400"/>
          </a:xfrm>
          <a:prstGeom prst="rect">
            <a:avLst/>
          </a:prstGeom>
        </p:spPr>
      </p:pic>
      <p:pic>
        <p:nvPicPr>
          <p:cNvPr id="45" name="Graphic 44" descr="Clipboard All Crosses with solid fill">
            <a:extLst>
              <a:ext uri="{FF2B5EF4-FFF2-40B4-BE49-F238E27FC236}">
                <a16:creationId xmlns:a16="http://schemas.microsoft.com/office/drawing/2014/main" id="{1CD8B5A3-C3DD-25A3-AE93-5C7D1C343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2756" y="5800962"/>
            <a:ext cx="1040768" cy="1040768"/>
          </a:xfrm>
          <a:prstGeom prst="rect">
            <a:avLst/>
          </a:prstGeom>
        </p:spPr>
      </p:pic>
      <p:pic>
        <p:nvPicPr>
          <p:cNvPr id="47" name="Graphic 46" descr="Children with solid fill">
            <a:extLst>
              <a:ext uri="{FF2B5EF4-FFF2-40B4-BE49-F238E27FC236}">
                <a16:creationId xmlns:a16="http://schemas.microsoft.com/office/drawing/2014/main" id="{D18E891C-D1A8-8972-FAE8-24DA176200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6250" y="7076383"/>
            <a:ext cx="1157287" cy="1157287"/>
          </a:xfrm>
          <a:prstGeom prst="rect">
            <a:avLst/>
          </a:prstGeom>
        </p:spPr>
      </p:pic>
      <p:pic>
        <p:nvPicPr>
          <p:cNvPr id="49" name="Graphic 48" descr="Credit card with solid fill">
            <a:extLst>
              <a:ext uri="{FF2B5EF4-FFF2-40B4-BE49-F238E27FC236}">
                <a16:creationId xmlns:a16="http://schemas.microsoft.com/office/drawing/2014/main" id="{03233A8A-206D-D43F-2F32-FC8C1660EB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5007" y="7173694"/>
            <a:ext cx="1040768" cy="1040768"/>
          </a:xfrm>
          <a:prstGeom prst="rect">
            <a:avLst/>
          </a:prstGeom>
        </p:spPr>
      </p:pic>
      <p:sp>
        <p:nvSpPr>
          <p:cNvPr id="50" name="Shape 0">
            <a:extLst>
              <a:ext uri="{FF2B5EF4-FFF2-40B4-BE49-F238E27FC236}">
                <a16:creationId xmlns:a16="http://schemas.microsoft.com/office/drawing/2014/main" id="{08121952-B7CA-7276-D07C-3604EBA0609A}"/>
              </a:ext>
            </a:extLst>
          </p:cNvPr>
          <p:cNvSpPr/>
          <p:nvPr/>
        </p:nvSpPr>
        <p:spPr>
          <a:xfrm>
            <a:off x="16596639" y="42055"/>
            <a:ext cx="2344877" cy="2196771"/>
          </a:xfrm>
          <a:prstGeom prst="ellipse">
            <a:avLst/>
          </a:prstGeom>
          <a:ln w="254000">
            <a:solidFill>
              <a:schemeClr val="tx1">
                <a:alpha val="1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9259EEBF-0511-2A63-8360-8D9FF2DFB04E}"/>
              </a:ext>
            </a:extLst>
          </p:cNvPr>
          <p:cNvSpPr/>
          <p:nvPr/>
        </p:nvSpPr>
        <p:spPr>
          <a:xfrm>
            <a:off x="-499870" y="-473382"/>
            <a:ext cx="2344877" cy="2196771"/>
          </a:xfrm>
          <a:prstGeom prst="ellipse">
            <a:avLst/>
          </a:prstGeom>
          <a:ln w="254000">
            <a:solidFill>
              <a:schemeClr val="tx1">
                <a:alpha val="1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DD53AE11-13CC-DE5E-4748-1F2845678456}"/>
              </a:ext>
            </a:extLst>
          </p:cNvPr>
          <p:cNvSpPr/>
          <p:nvPr/>
        </p:nvSpPr>
        <p:spPr>
          <a:xfrm>
            <a:off x="9729820" y="-1166254"/>
            <a:ext cx="2344877" cy="2196771"/>
          </a:xfrm>
          <a:prstGeom prst="ellipse">
            <a:avLst/>
          </a:prstGeom>
          <a:ln w="254000">
            <a:solidFill>
              <a:schemeClr val="tx1">
                <a:alpha val="1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3C5933-45E9-A435-C793-C9EFC63F18D0}"/>
              </a:ext>
            </a:extLst>
          </p:cNvPr>
          <p:cNvSpPr txBox="1"/>
          <p:nvPr/>
        </p:nvSpPr>
        <p:spPr>
          <a:xfrm>
            <a:off x="1569508" y="9317154"/>
            <a:ext cx="9840190" cy="48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2400" b="1" dirty="0">
                <a:solidFill>
                  <a:srgbClr val="EAFAF6"/>
                </a:solidFill>
                <a:latin typeface="Arial" pitchFamily="34" charset="0"/>
                <a:cs typeface="Guttman Yad-Brush" panose="02010401010101010101" pitchFamily="2" charset="-79"/>
              </a:rPr>
              <a:t>Spend</a:t>
            </a:r>
            <a:r>
              <a:rPr lang="en-US" sz="2400" b="1" dirty="0">
                <a:solidFill>
                  <a:srgbClr val="14C6B1"/>
                </a:solidFill>
                <a:latin typeface="Arial" pitchFamily="34" charset="0"/>
                <a:cs typeface="Guttman Yad-Brush" panose="02010401010101010101" pitchFamily="2" charset="-79"/>
              </a:rPr>
              <a:t>Wise </a:t>
            </a:r>
            <a:r>
              <a:rPr lang="he-IL" sz="2400" b="1" dirty="0">
                <a:solidFill>
                  <a:srgbClr val="14C6B1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 </a:t>
            </a:r>
            <a:r>
              <a:rPr lang="he-IL" sz="2400" b="1" dirty="0">
                <a:solidFill>
                  <a:schemeClr val="bg1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עוזרת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להבין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את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הכסף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בצורה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פשוטה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Guttman Yad-Brush" panose="02010401010101010101" pitchFamily="2" charset="-79"/>
              </a:rPr>
              <a:t>וברורה</a:t>
            </a:r>
            <a:endParaRPr lang="en-US" sz="2400" dirty="0">
              <a:solidFill>
                <a:schemeClr val="bg1"/>
              </a:solidFill>
              <a:cs typeface="Guttman Yad-Brush" panose="02010401010101010101" pitchFamily="2" charset="-79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>
            <a:extLst>
              <a:ext uri="{FF2B5EF4-FFF2-40B4-BE49-F238E27FC236}">
                <a16:creationId xmlns:a16="http://schemas.microsoft.com/office/drawing/2014/main" id="{26C00557-AD5C-1140-9BFD-07975C17EDA5}"/>
              </a:ext>
            </a:extLst>
          </p:cNvPr>
          <p:cNvSpPr/>
          <p:nvPr/>
        </p:nvSpPr>
        <p:spPr>
          <a:xfrm>
            <a:off x="16475975" y="8952292"/>
            <a:ext cx="2344877" cy="2196771"/>
          </a:xfrm>
          <a:prstGeom prst="ellipse">
            <a:avLst/>
          </a:prstGeom>
          <a:ln w="254000">
            <a:solidFill>
              <a:schemeClr val="tx1">
                <a:alpha val="1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A1467DF9-506B-2672-B15E-BDF9E6A53E9E}"/>
              </a:ext>
            </a:extLst>
          </p:cNvPr>
          <p:cNvSpPr/>
          <p:nvPr/>
        </p:nvSpPr>
        <p:spPr>
          <a:xfrm>
            <a:off x="-472372" y="8882359"/>
            <a:ext cx="2344877" cy="2196771"/>
          </a:xfrm>
          <a:prstGeom prst="ellipse">
            <a:avLst/>
          </a:prstGeom>
          <a:ln w="254000">
            <a:solidFill>
              <a:schemeClr val="tx1">
                <a:alpha val="1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9692945E-9E9B-AD78-F757-1257434C834E}"/>
              </a:ext>
            </a:extLst>
          </p:cNvPr>
          <p:cNvSpPr/>
          <p:nvPr/>
        </p:nvSpPr>
        <p:spPr>
          <a:xfrm>
            <a:off x="16711865" y="4552729"/>
            <a:ext cx="2344877" cy="2196771"/>
          </a:xfrm>
          <a:prstGeom prst="ellipse">
            <a:avLst/>
          </a:prstGeom>
          <a:ln w="254000">
            <a:solidFill>
              <a:schemeClr val="tx1">
                <a:alpha val="1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963713" y="1047884"/>
            <a:ext cx="62674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ctr" rtl="1">
              <a:spcAft>
                <a:spcPts val="400"/>
              </a:spcAft>
            </a:pPr>
            <a:r>
              <a:rPr lang="he-IL" sz="4400" b="1" dirty="0">
                <a:latin typeface="Arial"/>
              </a:rPr>
              <a:t>פיצ'רים ושירותי שרת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FEB70F4-21E8-C1C4-1958-A9AC554616DB}"/>
              </a:ext>
            </a:extLst>
          </p:cNvPr>
          <p:cNvGrpSpPr/>
          <p:nvPr/>
        </p:nvGrpSpPr>
        <p:grpSpPr>
          <a:xfrm>
            <a:off x="12722495" y="1791218"/>
            <a:ext cx="5215808" cy="3375381"/>
            <a:chOff x="12707242" y="2038349"/>
            <a:chExt cx="4761169" cy="3375381"/>
          </a:xfrm>
        </p:grpSpPr>
        <p:sp>
          <p:nvSpPr>
            <p:cNvPr id="5" name="Shape 3"/>
            <p:cNvSpPr/>
            <p:nvPr/>
          </p:nvSpPr>
          <p:spPr>
            <a:xfrm>
              <a:off x="12707242" y="2038349"/>
              <a:ext cx="4628258" cy="3375381"/>
            </a:xfrm>
            <a:prstGeom prst="roundRect">
              <a:avLst>
                <a:gd name="adj" fmla="val 4700"/>
              </a:avLst>
            </a:prstGeom>
            <a:solidFill>
              <a:srgbClr val="FFFFFF"/>
            </a:solidFill>
            <a:ln w="9525">
              <a:solidFill>
                <a:srgbClr val="DDE7E4"/>
              </a:solidFill>
              <a:prstDash val="solid"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 4"/>
            <p:cNvSpPr/>
            <p:nvPr/>
          </p:nvSpPr>
          <p:spPr>
            <a:xfrm>
              <a:off x="12971863" y="2268523"/>
              <a:ext cx="4231928" cy="3573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 rtl="1">
                <a:buNone/>
              </a:pPr>
              <a:r>
                <a:rPr lang="en-US" b="1" dirty="0">
                  <a:solidFill>
                    <a:srgbClr val="0F76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רישום ומעקב</a:t>
              </a: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2707242" y="2666999"/>
              <a:ext cx="4761169" cy="25752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הוספת הכנסות והוצאות לפי סכום, תאריך וקטגוריה.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צירוף תמונת קבלה לכל פעולה.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חיפוש, סינון ומיון לפי חודש, קטגוריה או בית עסק.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עריכה ומחיקה של פעולות קיימות.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סימון הוצאות קבועות או חד־פעמיות.</a:t>
              </a:r>
              <a:endParaRPr lang="en-US" b="1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421B98D-E9D1-A439-82B4-4B96E23AAED3}"/>
              </a:ext>
            </a:extLst>
          </p:cNvPr>
          <p:cNvGrpSpPr/>
          <p:nvPr/>
        </p:nvGrpSpPr>
        <p:grpSpPr>
          <a:xfrm>
            <a:off x="7015354" y="1830717"/>
            <a:ext cx="5376612" cy="3238500"/>
            <a:chOff x="7368731" y="2038350"/>
            <a:chExt cx="5376612" cy="3238500"/>
          </a:xfrm>
        </p:grpSpPr>
        <p:sp>
          <p:nvSpPr>
            <p:cNvPr id="8" name="Shape 6"/>
            <p:cNvSpPr/>
            <p:nvPr/>
          </p:nvSpPr>
          <p:spPr>
            <a:xfrm>
              <a:off x="7463814" y="2038350"/>
              <a:ext cx="5281529" cy="3201436"/>
            </a:xfrm>
            <a:prstGeom prst="roundRect">
              <a:avLst>
                <a:gd name="adj" fmla="val 4700"/>
              </a:avLst>
            </a:prstGeom>
            <a:solidFill>
              <a:srgbClr val="FFFFFF"/>
            </a:solidFill>
            <a:ln w="9525">
              <a:solidFill>
                <a:srgbClr val="DDE7E4"/>
              </a:solidFill>
              <a:prstDash val="solid"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Text 7"/>
            <p:cNvSpPr/>
            <p:nvPr/>
          </p:nvSpPr>
          <p:spPr>
            <a:xfrm>
              <a:off x="8277730" y="2289212"/>
              <a:ext cx="4232091" cy="4721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 rtl="1">
                <a:buNone/>
              </a:pPr>
              <a:r>
                <a:rPr lang="en-US" b="1" dirty="0">
                  <a:solidFill>
                    <a:srgbClr val="0F76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ניתוח ותובנות</a:t>
              </a:r>
              <a:endParaRPr 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68731" y="2667000"/>
              <a:ext cx="5215809" cy="2609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השוואה בין החודש הנוכחי לחודש הקודם.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זיהוי הקטגוריה שבה המשתמש מוציא הכי הרבה.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הצגת ממוצע הוצאה יומי ושבועי.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זיהוי הוצאות חריגות.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תחזית לסך ההוצאות עד סוף החודש.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הצגת מגמות לאורך זמן.</a:t>
              </a:r>
              <a:endParaRPr lang="en-US" b="1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1354AEB-F379-4363-908F-74FF86DB0B33}"/>
              </a:ext>
            </a:extLst>
          </p:cNvPr>
          <p:cNvGrpSpPr/>
          <p:nvPr/>
        </p:nvGrpSpPr>
        <p:grpSpPr>
          <a:xfrm>
            <a:off x="937247" y="1928950"/>
            <a:ext cx="5757282" cy="3489225"/>
            <a:chOff x="7949208" y="5540413"/>
            <a:chExt cx="4796135" cy="4593581"/>
          </a:xfrm>
        </p:grpSpPr>
        <p:sp>
          <p:nvSpPr>
            <p:cNvPr id="14" name="Shape 12"/>
            <p:cNvSpPr/>
            <p:nvPr/>
          </p:nvSpPr>
          <p:spPr>
            <a:xfrm>
              <a:off x="8345537" y="5540413"/>
              <a:ext cx="4399806" cy="4292762"/>
            </a:xfrm>
            <a:prstGeom prst="roundRect">
              <a:avLst>
                <a:gd name="adj" fmla="val 4700"/>
              </a:avLst>
            </a:prstGeom>
            <a:solidFill>
              <a:srgbClr val="FFFFFF"/>
            </a:solidFill>
            <a:ln w="9525">
              <a:solidFill>
                <a:srgbClr val="DDE7E4"/>
              </a:solidFill>
              <a:prstDash val="solid"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Text 13"/>
            <p:cNvSpPr/>
            <p:nvPr/>
          </p:nvSpPr>
          <p:spPr>
            <a:xfrm>
              <a:off x="8339986" y="5822282"/>
              <a:ext cx="4232091" cy="64042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 rtl="1">
                <a:buNone/>
              </a:pPr>
              <a:r>
                <a:rPr lang="en-US" b="1" dirty="0">
                  <a:solidFill>
                    <a:srgbClr val="0F76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קבוצות ושיתוף</a:t>
              </a:r>
              <a:endParaRPr 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949208" y="6505574"/>
              <a:ext cx="4635332" cy="3628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יצירת קבוצות לשותפים, זוגות, משפחות או טיולים.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חלוקת הוצאה באופן שווה, לפי אחוזים או לפי סכום.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הצגת מי שילם ומי חייב.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סימון חוב כמשולם. </a:t>
              </a:r>
            </a:p>
            <a:p>
              <a:pPr marL="285750" indent="-285750" algn="r" rtl="1">
                <a:lnSpc>
                  <a:spcPct val="155000"/>
                </a:lnSpc>
                <a:buFont typeface="Arial" panose="020B0604020202020204" pitchFamily="34" charset="0"/>
                <a:buChar char="•"/>
              </a:pPr>
              <a:r>
                <a:rPr lang="he-IL" b="1" dirty="0"/>
                <a:t>שיתוף דוחות או תמונות קבלה.</a:t>
              </a:r>
              <a:endParaRPr lang="en-US" sz="1600" b="1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F5685D2-4AD2-BD24-AC57-8F0A25622AA7}"/>
              </a:ext>
            </a:extLst>
          </p:cNvPr>
          <p:cNvGrpSpPr/>
          <p:nvPr/>
        </p:nvGrpSpPr>
        <p:grpSpPr>
          <a:xfrm>
            <a:off x="1620821" y="5167770"/>
            <a:ext cx="15824397" cy="4516345"/>
            <a:chOff x="1050879" y="1853806"/>
            <a:chExt cx="15824397" cy="4516345"/>
          </a:xfrm>
        </p:grpSpPr>
        <p:sp>
          <p:nvSpPr>
            <p:cNvPr id="17" name="Shape 15"/>
            <p:cNvSpPr/>
            <p:nvPr/>
          </p:nvSpPr>
          <p:spPr>
            <a:xfrm>
              <a:off x="1050880" y="1875713"/>
              <a:ext cx="15824396" cy="4494438"/>
            </a:xfrm>
            <a:prstGeom prst="roundRect">
              <a:avLst>
                <a:gd name="adj" fmla="val 2695"/>
              </a:avLst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Text 16"/>
            <p:cNvSpPr/>
            <p:nvPr/>
          </p:nvSpPr>
          <p:spPr>
            <a:xfrm>
              <a:off x="1050879" y="1853806"/>
              <a:ext cx="15458197" cy="5110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 rtl="1">
                <a:buNone/>
              </a:pPr>
              <a:r>
                <a:rPr lang="en-US" sz="2400" b="1" kern="0" spc="150" dirty="0">
                  <a:solidFill>
                    <a:srgbClr val="7FE3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יישומי שרת Firebase</a:t>
              </a:r>
              <a:endParaRPr lang="en-US" sz="24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16561778" y="2458949"/>
              <a:ext cx="108590" cy="115527"/>
            </a:xfrm>
            <a:prstGeom prst="roundRect">
              <a:avLst>
                <a:gd name="adj" fmla="val 27273"/>
              </a:avLst>
            </a:prstGeom>
            <a:solidFill>
              <a:srgbClr val="5EEAD4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Text 18"/>
            <p:cNvSpPr/>
            <p:nvPr/>
          </p:nvSpPr>
          <p:spPr>
            <a:xfrm>
              <a:off x="10551522" y="2397409"/>
              <a:ext cx="5860944" cy="3103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r" rtl="1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Authentication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796304" y="2578850"/>
              <a:ext cx="14987911" cy="8080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algn="r" rtl="1">
                <a:lnSpc>
                  <a:spcPct val="145000"/>
                </a:lnSpc>
              </a:pPr>
              <a:r>
                <a:rPr lang="he-IL" dirty="0">
                  <a:solidFill>
                    <a:schemeClr val="bg1"/>
                  </a:solidFill>
                </a:rPr>
                <a:t>אחראי על הרשמה, התחברות, יציאה מהחשבון וזיהוי המשתמש. כל משתמש יקבל חשבון אישי ויוכל לראות רק את ההוצאות, התקציבים והקבוצות שאליהם הוא שייך.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12048391" y="3256102"/>
              <a:ext cx="4341075" cy="41845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algn="r" rtl="1"/>
              <a:r>
                <a:rPr lang="he-IL" sz="2000" b="1" dirty="0" err="1">
                  <a:solidFill>
                    <a:schemeClr val="bg1"/>
                  </a:solidFill>
                </a:rPr>
                <a:t>Cloud</a:t>
              </a:r>
              <a:r>
                <a:rPr lang="he-IL" sz="2000" b="1" dirty="0">
                  <a:solidFill>
                    <a:schemeClr val="bg1"/>
                  </a:solidFill>
                </a:rPr>
                <a:t> </a:t>
              </a:r>
              <a:r>
                <a:rPr lang="he-IL" sz="2000" b="1" dirty="0" err="1">
                  <a:solidFill>
                    <a:schemeClr val="bg1"/>
                  </a:solidFill>
                </a:rPr>
                <a:t>Firestore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2043594" y="3543266"/>
              <a:ext cx="14400167" cy="73760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algn="r" rtl="1">
                <a:lnSpc>
                  <a:spcPct val="145000"/>
                </a:lnSpc>
              </a:pPr>
              <a:r>
                <a:rPr lang="he-IL" dirty="0">
                  <a:solidFill>
                    <a:schemeClr val="bg1"/>
                  </a:solidFill>
                </a:rPr>
                <a:t>מסד הנתונים המרכזי של האפליקציה. בו יישמרו פרטי המשתמשים, ההכנסות, ההוצאות, התקציבים, הקבוצות, חלוקת החובות וההתראות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2071391" y="4136956"/>
              <a:ext cx="4341075" cy="31272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algn="r" rtl="1"/>
              <a:r>
                <a:rPr lang="he-IL" sz="2000" b="1" dirty="0" err="1">
                  <a:solidFill>
                    <a:schemeClr val="bg1"/>
                  </a:solidFill>
                </a:rPr>
                <a:t>Firebase</a:t>
              </a:r>
              <a:r>
                <a:rPr lang="he-IL" sz="2000" b="1" dirty="0">
                  <a:solidFill>
                    <a:schemeClr val="bg1"/>
                  </a:solidFill>
                </a:rPr>
                <a:t> </a:t>
              </a:r>
              <a:r>
                <a:rPr lang="he-IL" sz="2000" b="1" dirty="0" err="1">
                  <a:solidFill>
                    <a:schemeClr val="bg1"/>
                  </a:solidFill>
                </a:rPr>
                <a:t>Storage</a:t>
              </a:r>
              <a:br>
                <a:rPr lang="he-IL" sz="2000" dirty="0">
                  <a:solidFill>
                    <a:schemeClr val="bg1"/>
                  </a:solidFill>
                </a:rPr>
              </a:b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2039184" y="4458848"/>
              <a:ext cx="14400167" cy="104364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algn="r" rtl="1">
                <a:lnSpc>
                  <a:spcPct val="145000"/>
                </a:lnSpc>
              </a:pPr>
              <a:r>
                <a:rPr lang="he-IL" dirty="0">
                  <a:solidFill>
                    <a:schemeClr val="bg1"/>
                  </a:solidFill>
                </a:rPr>
                <a:t>משמש לשמירת קבצים ותמונות, כמו תמונות קבלה, תמונת פרופיל ותמונת קבוצה. במסד הנתונים יישמר הקישור לקובץ.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6E21BCE-F886-E04D-041D-BAF6F822B296}"/>
                </a:ext>
              </a:extLst>
            </p:cNvPr>
            <p:cNvSpPr txBox="1"/>
            <p:nvPr/>
          </p:nvSpPr>
          <p:spPr>
            <a:xfrm>
              <a:off x="8977584" y="5013996"/>
              <a:ext cx="7564282" cy="2962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/>
              <a:r>
                <a:rPr lang="he-IL" sz="2000" b="1" dirty="0">
                  <a:solidFill>
                    <a:schemeClr val="bg1"/>
                  </a:solidFill>
                </a:rPr>
                <a:t>סנכרון בין משתמשים ומכשירים</a:t>
              </a:r>
              <a:endParaRPr lang="he-IL" sz="2000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ABBE8E-ADF2-1E9D-6C28-CE41FCED7E4B}"/>
                </a:ext>
              </a:extLst>
            </p:cNvPr>
            <p:cNvSpPr txBox="1"/>
            <p:nvPr/>
          </p:nvSpPr>
          <p:spPr>
            <a:xfrm>
              <a:off x="1302563" y="5337854"/>
              <a:ext cx="15263772" cy="6836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/>
              <a:r>
                <a:rPr lang="he-IL" dirty="0">
                  <a:solidFill>
                    <a:schemeClr val="bg1"/>
                  </a:solidFill>
                </a:rPr>
                <a:t>כל שינוי שיתבצע בענן יוכל להתעדכן אצל המשתמשים הרלוונטיים. לדוגמה, כאשר חבר בקבוצה מוסיף הוצאה, שאר חברי הקבוצה יוכלו לראות אותה ואת היתרות המעודכנות</a:t>
              </a:r>
            </a:p>
          </p:txBody>
        </p:sp>
        <p:sp>
          <p:nvSpPr>
            <p:cNvPr id="40" name="Shape 17">
              <a:extLst>
                <a:ext uri="{FF2B5EF4-FFF2-40B4-BE49-F238E27FC236}">
                  <a16:creationId xmlns:a16="http://schemas.microsoft.com/office/drawing/2014/main" id="{32F59E95-1155-142B-5077-5FA1988515B0}"/>
                </a:ext>
              </a:extLst>
            </p:cNvPr>
            <p:cNvSpPr/>
            <p:nvPr/>
          </p:nvSpPr>
          <p:spPr>
            <a:xfrm>
              <a:off x="16541866" y="3397280"/>
              <a:ext cx="108590" cy="115527"/>
            </a:xfrm>
            <a:prstGeom prst="roundRect">
              <a:avLst>
                <a:gd name="adj" fmla="val 27273"/>
              </a:avLst>
            </a:prstGeom>
            <a:solidFill>
              <a:srgbClr val="5EEAD4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Shape 17">
              <a:extLst>
                <a:ext uri="{FF2B5EF4-FFF2-40B4-BE49-F238E27FC236}">
                  <a16:creationId xmlns:a16="http://schemas.microsoft.com/office/drawing/2014/main" id="{FBE0D136-4F3B-64E8-0427-AC234F2928C4}"/>
                </a:ext>
              </a:extLst>
            </p:cNvPr>
            <p:cNvSpPr/>
            <p:nvPr/>
          </p:nvSpPr>
          <p:spPr>
            <a:xfrm>
              <a:off x="16525015" y="4312215"/>
              <a:ext cx="108590" cy="115527"/>
            </a:xfrm>
            <a:prstGeom prst="roundRect">
              <a:avLst>
                <a:gd name="adj" fmla="val 27273"/>
              </a:avLst>
            </a:prstGeom>
            <a:solidFill>
              <a:srgbClr val="5EEAD4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42" name="Shape 17">
              <a:extLst>
                <a:ext uri="{FF2B5EF4-FFF2-40B4-BE49-F238E27FC236}">
                  <a16:creationId xmlns:a16="http://schemas.microsoft.com/office/drawing/2014/main" id="{36B745A2-AE6B-BA35-7BDE-5EFCED945535}"/>
                </a:ext>
              </a:extLst>
            </p:cNvPr>
            <p:cNvSpPr/>
            <p:nvPr/>
          </p:nvSpPr>
          <p:spPr>
            <a:xfrm>
              <a:off x="16557706" y="5169757"/>
              <a:ext cx="108590" cy="115527"/>
            </a:xfrm>
            <a:prstGeom prst="roundRect">
              <a:avLst>
                <a:gd name="adj" fmla="val 27273"/>
              </a:avLst>
            </a:prstGeom>
            <a:solidFill>
              <a:srgbClr val="5EEAD4"/>
            </a:solidFill>
            <a:ln/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2" name="Shape 0">
            <a:extLst>
              <a:ext uri="{FF2B5EF4-FFF2-40B4-BE49-F238E27FC236}">
                <a16:creationId xmlns:a16="http://schemas.microsoft.com/office/drawing/2014/main" id="{24F6FE44-A800-3DAF-20C7-03690B6DE8F7}"/>
              </a:ext>
            </a:extLst>
          </p:cNvPr>
          <p:cNvSpPr/>
          <p:nvPr/>
        </p:nvSpPr>
        <p:spPr>
          <a:xfrm>
            <a:off x="-1228593" y="4179892"/>
            <a:ext cx="2344877" cy="2196771"/>
          </a:xfrm>
          <a:prstGeom prst="ellipse">
            <a:avLst/>
          </a:prstGeom>
          <a:ln w="254000">
            <a:solidFill>
              <a:schemeClr val="tx1">
                <a:alpha val="1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9F48D51-A3BA-A056-CB5C-0711D0D130AC}"/>
              </a:ext>
            </a:extLst>
          </p:cNvPr>
          <p:cNvSpPr/>
          <p:nvPr/>
        </p:nvSpPr>
        <p:spPr>
          <a:xfrm>
            <a:off x="11058724" y="-1025958"/>
            <a:ext cx="2344877" cy="2196771"/>
          </a:xfrm>
          <a:prstGeom prst="ellipse">
            <a:avLst/>
          </a:prstGeom>
          <a:ln w="254000">
            <a:solidFill>
              <a:schemeClr val="tx1">
                <a:alpha val="1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688764DE-DECB-D4CB-2601-178AF9689EFB}"/>
              </a:ext>
            </a:extLst>
          </p:cNvPr>
          <p:cNvSpPr/>
          <p:nvPr/>
        </p:nvSpPr>
        <p:spPr>
          <a:xfrm>
            <a:off x="-48490" y="-10184"/>
            <a:ext cx="9091360" cy="10367530"/>
          </a:xfrm>
          <a:prstGeom prst="rect">
            <a:avLst/>
          </a:prstGeom>
          <a:solidFill>
            <a:srgbClr val="0F76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Shape 0"/>
          <p:cNvSpPr/>
          <p:nvPr/>
        </p:nvSpPr>
        <p:spPr>
          <a:xfrm>
            <a:off x="13639800" y="887631"/>
            <a:ext cx="4000500" cy="8444522"/>
          </a:xfrm>
          <a:prstGeom prst="roundRect">
            <a:avLst>
              <a:gd name="adj" fmla="val 11429"/>
            </a:avLst>
          </a:prstGeom>
          <a:solidFill>
            <a:srgbClr val="0C3B36"/>
          </a:solidFill>
          <a:ln/>
          <a:effectLst>
            <a:outerShdw blurRad="857250" dist="381000" dir="5400000" algn="bl" rotWithShape="0">
              <a:srgbClr val="0C3B36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13773150" y="1042774"/>
            <a:ext cx="3733800" cy="7543738"/>
          </a:xfrm>
          <a:prstGeom prst="roundRect">
            <a:avLst>
              <a:gd name="adj" fmla="val 9184"/>
            </a:avLst>
          </a:prstGeom>
          <a:solidFill>
            <a:srgbClr val="EEF3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3773150" y="1042772"/>
            <a:ext cx="3733800" cy="2626319"/>
          </a:xfrm>
          <a:prstGeom prst="rect">
            <a:avLst/>
          </a:prstGeom>
          <a:solidFill>
            <a:srgbClr val="0C3B36"/>
          </a:solidFill>
          <a:ln/>
        </p:spPr>
        <p:txBody>
          <a:bodyPr/>
          <a:lstStyle/>
          <a:p>
            <a:pPr algn="r" rtl="1"/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6697325" y="1308729"/>
            <a:ext cx="638175" cy="37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7FE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020800" y="1308729"/>
            <a:ext cx="666750" cy="441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FE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50" dirty="0" err="1">
                <a:solidFill>
                  <a:srgbClr val="7FE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יוני</a:t>
            </a:r>
            <a:r>
              <a:rPr lang="en-US" sz="1050" dirty="0">
                <a:solidFill>
                  <a:srgbClr val="7FE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020800" y="1707664"/>
            <a:ext cx="3562350" cy="310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B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שלום, ארד 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020800" y="2128760"/>
            <a:ext cx="3562350" cy="243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he-IL" sz="1050" dirty="0">
                <a:solidFill>
                  <a:srgbClr val="7FE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סך ההוצאות </a:t>
            </a:r>
            <a:r>
              <a:rPr lang="en-US" sz="1050" dirty="0" err="1">
                <a:solidFill>
                  <a:srgbClr val="7FE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החודש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020800" y="2350391"/>
            <a:ext cx="3562350" cy="576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3150" b="1" dirty="0">
                <a:solidFill>
                  <a:srgbClr val="E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₪2,340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15697200" y="3868559"/>
            <a:ext cx="1619250" cy="742461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14" name="Text 12"/>
          <p:cNvSpPr/>
          <p:nvPr/>
        </p:nvSpPr>
        <p:spPr>
          <a:xfrm>
            <a:off x="15830550" y="4023700"/>
            <a:ext cx="1487805" cy="210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he-IL" sz="900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הוצאות מה24 שעות האחרונות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830550" y="4189922"/>
            <a:ext cx="1487805" cy="310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1575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₪900</a:t>
            </a:r>
            <a:endParaRPr lang="en-US" sz="1575" dirty="0">
              <a:solidFill>
                <a:srgbClr val="FF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963650" y="3868559"/>
            <a:ext cx="1619250" cy="742461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r" rtl="1"/>
            <a:endParaRPr lang="he-IL" dirty="0"/>
          </a:p>
        </p:txBody>
      </p:sp>
      <p:sp>
        <p:nvSpPr>
          <p:cNvPr id="17" name="Text 15"/>
          <p:cNvSpPr/>
          <p:nvPr/>
        </p:nvSpPr>
        <p:spPr>
          <a:xfrm>
            <a:off x="14097000" y="4023700"/>
            <a:ext cx="1487805" cy="210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הוצאות</a:t>
            </a:r>
            <a:r>
              <a:rPr lang="he-IL" sz="900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מה7 ימים האחרונים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097000" y="4189922"/>
            <a:ext cx="1487805" cy="310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en-US" sz="1575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₪3,860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3963650" y="4788324"/>
            <a:ext cx="3352800" cy="171763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16427202" y="4965629"/>
            <a:ext cx="813048" cy="232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 rtl="1">
              <a:buNone/>
            </a:pPr>
            <a:r>
              <a:rPr lang="en-US" sz="975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הוצאות לפי ימים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4116050" y="4965629"/>
            <a:ext cx="933450" cy="196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 rtl="1">
              <a:buNone/>
            </a:pPr>
            <a:r>
              <a:rPr lang="he-IL" sz="975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השבוע הנוכחי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16916400" y="5925391"/>
            <a:ext cx="247650" cy="425427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16449675" y="5691294"/>
            <a:ext cx="247650" cy="659523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15982950" y="5978549"/>
            <a:ext cx="247650" cy="372269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15516225" y="5499792"/>
            <a:ext cx="247650" cy="851025"/>
          </a:xfrm>
          <a:prstGeom prst="roundRect">
            <a:avLst>
              <a:gd name="adj" fmla="val 23077"/>
            </a:avLst>
          </a:prstGeom>
          <a:solidFill>
            <a:srgbClr val="5EEAD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15049500" y="5765748"/>
            <a:ext cx="247650" cy="585069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14582775" y="5372181"/>
            <a:ext cx="247650" cy="978637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14116050" y="5840202"/>
            <a:ext cx="247650" cy="510616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13905384" y="6683264"/>
            <a:ext cx="3411066" cy="528744"/>
          </a:xfrm>
          <a:prstGeom prst="roundRect">
            <a:avLst>
              <a:gd name="adj" fmla="val 22665"/>
            </a:avLst>
          </a:prstGeom>
          <a:solidFill>
            <a:srgbClr val="D8F3EC"/>
          </a:solidFill>
          <a:ln w="9525">
            <a:solidFill>
              <a:srgbClr val="9AD9C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16919079" y="6849486"/>
            <a:ext cx="311646" cy="310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3905384" y="6812951"/>
            <a:ext cx="3071961" cy="49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lnSpc>
                <a:spcPct val="145000"/>
              </a:lnSpc>
              <a:buNone/>
            </a:pPr>
            <a:r>
              <a:rPr lang="en-US" sz="1050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ההוצאות שלך החודש </a:t>
            </a:r>
            <a:r>
              <a:rPr lang="en-US" sz="1050" dirty="0" err="1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גבוהות</a:t>
            </a:r>
            <a:r>
              <a:rPr lang="en-US" sz="1050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</a:t>
            </a:r>
            <a:r>
              <a:rPr lang="en-US" sz="1050" b="1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r>
              <a:rPr lang="he-IL" sz="1050" b="1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לעומת</a:t>
            </a:r>
            <a:r>
              <a:rPr lang="en-US" sz="1050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החודש</a:t>
            </a:r>
            <a:r>
              <a:rPr lang="en-US" sz="1050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הקודם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4811375" y="222141"/>
            <a:ext cx="247740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הבית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9233370" y="2058906"/>
            <a:ext cx="4362451" cy="5954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r" rtl="1"/>
            <a:r>
              <a:rPr lang="he-IL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במסך הבית יהיה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תמונת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מצב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כללית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שמראה:</a:t>
            </a:r>
          </a:p>
          <a:p>
            <a:pPr algn="r" rtl="1"/>
            <a:endParaRPr lang="he-IL" sz="16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סך ההוצאות של החודש הנוכחי</a:t>
            </a:r>
            <a:b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he-IL" sz="16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כפתור למעבר לחלוקה של ההוצאות לפי קטגוריות. </a:t>
            </a:r>
            <a:br>
              <a:rPr lang="en-US" sz="1600" dirty="0"/>
            </a:br>
            <a:endParaRPr lang="he-IL" sz="16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כפתור הוספה של הוצאה </a:t>
            </a:r>
          </a:p>
          <a:p>
            <a:pPr algn="r" rtl="1"/>
            <a:endParaRPr lang="he-IL" sz="1600" dirty="0"/>
          </a:p>
          <a:p>
            <a:pPr algn="r" rtl="1"/>
            <a:endParaRPr lang="he-IL" sz="1600" dirty="0"/>
          </a:p>
          <a:p>
            <a:pPr algn="r" rtl="1"/>
            <a:endParaRPr lang="he-IL" sz="1600" dirty="0"/>
          </a:p>
          <a:p>
            <a:pPr algn="r" rtl="1"/>
            <a:br>
              <a:rPr lang="en-US" sz="1600" dirty="0"/>
            </a:br>
            <a:endParaRPr lang="he-IL" sz="16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סך הוצאות מה24 שעות האחרונות</a:t>
            </a:r>
            <a:br>
              <a:rPr lang="en-US" sz="1600" dirty="0"/>
            </a:br>
            <a:endParaRPr lang="he-IL" sz="16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סך הוצאות מה7 ימים האחרונים</a:t>
            </a:r>
          </a:p>
          <a:p>
            <a:pPr algn="r" rtl="1"/>
            <a:r>
              <a:rPr lang="he-IL" sz="1600" dirty="0"/>
              <a:t>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גרף הוצאות לפי ימים או שבועות.</a:t>
            </a:r>
          </a:p>
          <a:p>
            <a:pPr algn="r" rtl="1"/>
            <a:endParaRPr lang="he-IL" sz="1600" dirty="0"/>
          </a:p>
          <a:p>
            <a:pPr algn="r" rtl="1"/>
            <a:br>
              <a:rPr lang="en-US" sz="1600" dirty="0"/>
            </a:br>
            <a:endParaRPr lang="he-IL" sz="16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אחוז שינוי לעומת החודש הקודם.</a:t>
            </a:r>
            <a:br>
              <a:rPr lang="en-US" sz="1600" dirty="0"/>
            </a:br>
            <a:endParaRPr lang="he-IL" sz="16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סיכום קצר של חובות בקבוצות משותפות.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16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16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 כפתורי חיפוש, תפריט ומעבר לפרטי המשתמש</a:t>
            </a:r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0313D643-A6AB-C27F-CB3F-5F9606C4FA5C}"/>
              </a:ext>
            </a:extLst>
          </p:cNvPr>
          <p:cNvSpPr/>
          <p:nvPr/>
        </p:nvSpPr>
        <p:spPr>
          <a:xfrm>
            <a:off x="781051" y="915906"/>
            <a:ext cx="4000500" cy="7661294"/>
          </a:xfrm>
          <a:prstGeom prst="roundRect">
            <a:avLst>
              <a:gd name="adj" fmla="val 11429"/>
            </a:avLst>
          </a:prstGeom>
          <a:solidFill>
            <a:srgbClr val="0C3B36"/>
          </a:solidFill>
          <a:ln/>
          <a:effectLst>
            <a:outerShdw blurRad="857250" dist="381000" dir="5400000" algn="bl" rotWithShape="0">
              <a:srgbClr val="0C3B36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4" name="Shape 1">
            <a:extLst>
              <a:ext uri="{FF2B5EF4-FFF2-40B4-BE49-F238E27FC236}">
                <a16:creationId xmlns:a16="http://schemas.microsoft.com/office/drawing/2014/main" id="{F94CA4B3-62F9-009A-A1AF-D1C011FC426E}"/>
              </a:ext>
            </a:extLst>
          </p:cNvPr>
          <p:cNvSpPr/>
          <p:nvPr/>
        </p:nvSpPr>
        <p:spPr>
          <a:xfrm>
            <a:off x="914401" y="1049257"/>
            <a:ext cx="3733800" cy="680998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F2685B97-CBB4-5D82-77AE-69C80A17CE27}"/>
              </a:ext>
            </a:extLst>
          </p:cNvPr>
          <p:cNvSpPr/>
          <p:nvPr/>
        </p:nvSpPr>
        <p:spPr>
          <a:xfrm>
            <a:off x="914401" y="1763631"/>
            <a:ext cx="3733800" cy="45719"/>
          </a:xfrm>
          <a:prstGeom prst="rect">
            <a:avLst/>
          </a:prstGeom>
          <a:solidFill>
            <a:srgbClr val="EEF3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D7ECD145-4AFA-D0FF-5EE8-2EFC0A6B2CC0}"/>
              </a:ext>
            </a:extLst>
          </p:cNvPr>
          <p:cNvSpPr/>
          <p:nvPr/>
        </p:nvSpPr>
        <p:spPr>
          <a:xfrm>
            <a:off x="4232822" y="1277856"/>
            <a:ext cx="262979" cy="429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B9CC6266-CA38-A69B-91D6-B0BFB0B00376}"/>
              </a:ext>
            </a:extLst>
          </p:cNvPr>
          <p:cNvSpPr/>
          <p:nvPr/>
        </p:nvSpPr>
        <p:spPr>
          <a:xfrm>
            <a:off x="1143001" y="1325481"/>
            <a:ext cx="1061740" cy="313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הוצאה חדשה</a:t>
            </a:r>
            <a:endParaRPr lang="en-US" sz="1500" dirty="0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F52465E4-A24B-F95B-6423-C8939F2DA56E}"/>
              </a:ext>
            </a:extLst>
          </p:cNvPr>
          <p:cNvSpPr/>
          <p:nvPr/>
        </p:nvSpPr>
        <p:spPr>
          <a:xfrm>
            <a:off x="979171" y="2058906"/>
            <a:ext cx="3604260" cy="24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סכום</a:t>
            </a:r>
            <a:endParaRPr lang="en-US" sz="975" dirty="0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9CD31A2A-5971-DC1A-C359-3CF5E54A57F2}"/>
              </a:ext>
            </a:extLst>
          </p:cNvPr>
          <p:cNvSpPr/>
          <p:nvPr/>
        </p:nvSpPr>
        <p:spPr>
          <a:xfrm>
            <a:off x="979171" y="2220830"/>
            <a:ext cx="3604260" cy="67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4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 </a:t>
            </a:r>
            <a:r>
              <a:rPr lang="en-US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84.00</a:t>
            </a:r>
            <a:endParaRPr lang="en-US" sz="3450" dirty="0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FA4487A4-41C2-7AA6-1486-535ED3B9BC2A}"/>
              </a:ext>
            </a:extLst>
          </p:cNvPr>
          <p:cNvSpPr/>
          <p:nvPr/>
        </p:nvSpPr>
        <p:spPr>
          <a:xfrm>
            <a:off x="1143001" y="2944731"/>
            <a:ext cx="3604260" cy="24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קטגוריה</a:t>
            </a:r>
            <a:endParaRPr lang="en-US" sz="975" dirty="0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69B039E0-079B-648A-517B-BE77B41C68CD}"/>
              </a:ext>
            </a:extLst>
          </p:cNvPr>
          <p:cNvSpPr/>
          <p:nvPr/>
        </p:nvSpPr>
        <p:spPr>
          <a:xfrm>
            <a:off x="3735736" y="3201906"/>
            <a:ext cx="683865" cy="3826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1C0D9B9F-DE00-4227-CB8A-E2FEA87FBDD7}"/>
              </a:ext>
            </a:extLst>
          </p:cNvPr>
          <p:cNvSpPr/>
          <p:nvPr/>
        </p:nvSpPr>
        <p:spPr>
          <a:xfrm>
            <a:off x="3869086" y="3268581"/>
            <a:ext cx="493365" cy="26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🍔 מזון</a:t>
            </a:r>
            <a:endParaRPr lang="en-US" sz="1050" dirty="0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22C81C40-ECE3-4DFB-DEF9-36CD6B49A83C}"/>
              </a:ext>
            </a:extLst>
          </p:cNvPr>
          <p:cNvSpPr/>
          <p:nvPr/>
        </p:nvSpPr>
        <p:spPr>
          <a:xfrm>
            <a:off x="2753768" y="3201906"/>
            <a:ext cx="905768" cy="382644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29771ED1-0D3F-0660-A03D-6BE89674B823}"/>
              </a:ext>
            </a:extLst>
          </p:cNvPr>
          <p:cNvSpPr/>
          <p:nvPr/>
        </p:nvSpPr>
        <p:spPr>
          <a:xfrm>
            <a:off x="2887118" y="3268581"/>
            <a:ext cx="715268" cy="26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86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תחבורה</a:t>
            </a:r>
            <a:endParaRPr lang="en-US" sz="1050" dirty="0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7806B259-BAE0-51AF-0331-F3F2219A34B0}"/>
              </a:ext>
            </a:extLst>
          </p:cNvPr>
          <p:cNvSpPr/>
          <p:nvPr/>
        </p:nvSpPr>
        <p:spPr>
          <a:xfrm>
            <a:off x="1845321" y="3201906"/>
            <a:ext cx="832247" cy="382644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382F388F-78BD-E5D9-9BEE-297A577F2FC5}"/>
              </a:ext>
            </a:extLst>
          </p:cNvPr>
          <p:cNvSpPr/>
          <p:nvPr/>
        </p:nvSpPr>
        <p:spPr>
          <a:xfrm>
            <a:off x="1978671" y="3268581"/>
            <a:ext cx="641747" cy="26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86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בילויים</a:t>
            </a:r>
            <a:endParaRPr lang="en-US" sz="1050" dirty="0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4C022108-1826-93EE-2B3C-101D87D92F6B}"/>
              </a:ext>
            </a:extLst>
          </p:cNvPr>
          <p:cNvSpPr/>
          <p:nvPr/>
        </p:nvSpPr>
        <p:spPr>
          <a:xfrm>
            <a:off x="3660875" y="3592431"/>
            <a:ext cx="758726" cy="382644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9C866FB9-4F5C-C816-46F9-36EED3D994C3}"/>
              </a:ext>
            </a:extLst>
          </p:cNvPr>
          <p:cNvSpPr/>
          <p:nvPr/>
        </p:nvSpPr>
        <p:spPr>
          <a:xfrm>
            <a:off x="3794225" y="3659106"/>
            <a:ext cx="568226" cy="26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86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🛍️ קניות</a:t>
            </a:r>
            <a:endParaRPr lang="en-US" sz="1050" dirty="0"/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1D7895FA-04A4-F3C4-6789-A9026637CE80}"/>
              </a:ext>
            </a:extLst>
          </p:cNvPr>
          <p:cNvSpPr/>
          <p:nvPr/>
        </p:nvSpPr>
        <p:spPr>
          <a:xfrm>
            <a:off x="2896345" y="3592431"/>
            <a:ext cx="688330" cy="382644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33A7F9F1-EB18-AA67-0532-1E1E787D5C3D}"/>
              </a:ext>
            </a:extLst>
          </p:cNvPr>
          <p:cNvSpPr/>
          <p:nvPr/>
        </p:nvSpPr>
        <p:spPr>
          <a:xfrm>
            <a:off x="3029695" y="3659106"/>
            <a:ext cx="497830" cy="26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86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דיור</a:t>
            </a:r>
            <a:endParaRPr lang="en-US" sz="1050" dirty="0"/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BE453A11-79C9-2CEA-7D74-B74AC1B47F2B}"/>
              </a:ext>
            </a:extLst>
          </p:cNvPr>
          <p:cNvSpPr/>
          <p:nvPr/>
        </p:nvSpPr>
        <p:spPr>
          <a:xfrm>
            <a:off x="2838451" y="4078205"/>
            <a:ext cx="1581150" cy="649335"/>
          </a:xfrm>
          <a:prstGeom prst="roundRect">
            <a:avLst>
              <a:gd name="adj" fmla="val 25000"/>
            </a:avLst>
          </a:prstGeom>
          <a:solidFill>
            <a:srgbClr val="F4F8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0AB4AB94-0392-481B-523E-148B4AC42EEA}"/>
              </a:ext>
            </a:extLst>
          </p:cNvPr>
          <p:cNvSpPr/>
          <p:nvPr/>
        </p:nvSpPr>
        <p:spPr>
          <a:xfrm>
            <a:off x="2971801" y="4192506"/>
            <a:ext cx="1445895" cy="220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תאריך</a:t>
            </a:r>
            <a:endParaRPr lang="en-US" sz="900" dirty="0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F8A96458-2E01-7638-FD36-4646150E3C7E}"/>
              </a:ext>
            </a:extLst>
          </p:cNvPr>
          <p:cNvSpPr/>
          <p:nvPr/>
        </p:nvSpPr>
        <p:spPr>
          <a:xfrm>
            <a:off x="2971801" y="4335381"/>
            <a:ext cx="1445895" cy="24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ביוני</a:t>
            </a:r>
            <a:endParaRPr lang="en-US" sz="1125" dirty="0"/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A6636F7A-0B73-79BD-EBF5-242267DAA781}"/>
              </a:ext>
            </a:extLst>
          </p:cNvPr>
          <p:cNvSpPr/>
          <p:nvPr/>
        </p:nvSpPr>
        <p:spPr>
          <a:xfrm>
            <a:off x="1143001" y="4078205"/>
            <a:ext cx="1581150" cy="649335"/>
          </a:xfrm>
          <a:prstGeom prst="roundRect">
            <a:avLst>
              <a:gd name="adj" fmla="val 25000"/>
            </a:avLst>
          </a:prstGeom>
          <a:solidFill>
            <a:srgbClr val="F4F8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D4BC4BDD-C18C-0C4E-B9A8-3EECBC4227B6}"/>
              </a:ext>
            </a:extLst>
          </p:cNvPr>
          <p:cNvSpPr/>
          <p:nvPr/>
        </p:nvSpPr>
        <p:spPr>
          <a:xfrm>
            <a:off x="1276351" y="4192506"/>
            <a:ext cx="1445895" cy="220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בית עסק</a:t>
            </a:r>
            <a:endParaRPr lang="en-US" sz="9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2D9AF3B3-7A2B-A170-2FBF-45E6482B16F7}"/>
              </a:ext>
            </a:extLst>
          </p:cNvPr>
          <p:cNvSpPr/>
          <p:nvPr/>
        </p:nvSpPr>
        <p:spPr>
          <a:xfrm>
            <a:off x="1276351" y="4335381"/>
            <a:ext cx="1445895" cy="24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קפה ביאליק</a:t>
            </a:r>
            <a:endParaRPr lang="en-US" sz="1125" dirty="0"/>
          </a:p>
        </p:txBody>
      </p:sp>
      <p:sp>
        <p:nvSpPr>
          <p:cNvPr id="67" name="Shape 24">
            <a:extLst>
              <a:ext uri="{FF2B5EF4-FFF2-40B4-BE49-F238E27FC236}">
                <a16:creationId xmlns:a16="http://schemas.microsoft.com/office/drawing/2014/main" id="{226ADF7B-158E-5DEA-DC18-FC4D7DE33420}"/>
              </a:ext>
            </a:extLst>
          </p:cNvPr>
          <p:cNvSpPr/>
          <p:nvPr/>
        </p:nvSpPr>
        <p:spPr>
          <a:xfrm>
            <a:off x="1143001" y="4783055"/>
            <a:ext cx="3276600" cy="649335"/>
          </a:xfrm>
          <a:prstGeom prst="roundRect">
            <a:avLst>
              <a:gd name="adj" fmla="val 25000"/>
            </a:avLst>
          </a:prstGeom>
          <a:solidFill>
            <a:srgbClr val="F4F8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79861383-20E1-A14B-D8C2-23CFE5B4F0E7}"/>
              </a:ext>
            </a:extLst>
          </p:cNvPr>
          <p:cNvSpPr/>
          <p:nvPr/>
        </p:nvSpPr>
        <p:spPr>
          <a:xfrm>
            <a:off x="1828801" y="4897356"/>
            <a:ext cx="2703195" cy="220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ההוצאה</a:t>
            </a:r>
            <a:endParaRPr lang="en-US" sz="900" dirty="0"/>
          </a:p>
        </p:txBody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306DD1E8-D4B0-1D52-55BC-370E8F881BFE}"/>
              </a:ext>
            </a:extLst>
          </p:cNvPr>
          <p:cNvSpPr/>
          <p:nvPr/>
        </p:nvSpPr>
        <p:spPr>
          <a:xfrm>
            <a:off x="1828801" y="5040231"/>
            <a:ext cx="2703195" cy="24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חד־פעמית</a:t>
            </a:r>
            <a:endParaRPr lang="en-US" sz="1125" dirty="0"/>
          </a:p>
        </p:txBody>
      </p:sp>
      <p:sp>
        <p:nvSpPr>
          <p:cNvPr id="70" name="Shape 27">
            <a:extLst>
              <a:ext uri="{FF2B5EF4-FFF2-40B4-BE49-F238E27FC236}">
                <a16:creationId xmlns:a16="http://schemas.microsoft.com/office/drawing/2014/main" id="{01336B30-B171-15D5-FAA6-0C5282A2B782}"/>
              </a:ext>
            </a:extLst>
          </p:cNvPr>
          <p:cNvSpPr/>
          <p:nvPr/>
        </p:nvSpPr>
        <p:spPr>
          <a:xfrm>
            <a:off x="1276351" y="4925930"/>
            <a:ext cx="438150" cy="301477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1" name="Shape 28">
            <a:extLst>
              <a:ext uri="{FF2B5EF4-FFF2-40B4-BE49-F238E27FC236}">
                <a16:creationId xmlns:a16="http://schemas.microsoft.com/office/drawing/2014/main" id="{74A7E5A7-DCD2-8116-3442-FBB6BB98DC51}"/>
              </a:ext>
            </a:extLst>
          </p:cNvPr>
          <p:cNvSpPr/>
          <p:nvPr/>
        </p:nvSpPr>
        <p:spPr>
          <a:xfrm>
            <a:off x="1495426" y="4954505"/>
            <a:ext cx="190500" cy="23190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2" name="Shape 29">
            <a:extLst>
              <a:ext uri="{FF2B5EF4-FFF2-40B4-BE49-F238E27FC236}">
                <a16:creationId xmlns:a16="http://schemas.microsoft.com/office/drawing/2014/main" id="{5B5C183F-B5CF-9A9C-7EF6-DD494DC5F39E}"/>
              </a:ext>
            </a:extLst>
          </p:cNvPr>
          <p:cNvSpPr/>
          <p:nvPr/>
        </p:nvSpPr>
        <p:spPr>
          <a:xfrm>
            <a:off x="1143001" y="5487906"/>
            <a:ext cx="3276600" cy="684120"/>
          </a:xfrm>
          <a:prstGeom prst="roundRect">
            <a:avLst>
              <a:gd name="adj" fmla="val 23729"/>
            </a:avLst>
          </a:prstGeom>
          <a:ln w="19050">
            <a:solidFill>
              <a:srgbClr val="B8CC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73" name="Text 30">
            <a:extLst>
              <a:ext uri="{FF2B5EF4-FFF2-40B4-BE49-F238E27FC236}">
                <a16:creationId xmlns:a16="http://schemas.microsoft.com/office/drawing/2014/main" id="{B9CA76CD-D558-7A9A-55FB-B93D481F3475}"/>
              </a:ext>
            </a:extLst>
          </p:cNvPr>
          <p:cNvSpPr/>
          <p:nvPr/>
        </p:nvSpPr>
        <p:spPr>
          <a:xfrm>
            <a:off x="1284352" y="5678406"/>
            <a:ext cx="2993898" cy="26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צירוף תמונת קבלה</a:t>
            </a:r>
            <a:endParaRPr lang="en-US" sz="1050" dirty="0"/>
          </a:p>
        </p:txBody>
      </p:sp>
      <p:sp>
        <p:nvSpPr>
          <p:cNvPr id="74" name="Shape 31">
            <a:extLst>
              <a:ext uri="{FF2B5EF4-FFF2-40B4-BE49-F238E27FC236}">
                <a16:creationId xmlns:a16="http://schemas.microsoft.com/office/drawing/2014/main" id="{DBF4B852-A264-043A-1E8F-035392893B00}"/>
              </a:ext>
            </a:extLst>
          </p:cNvPr>
          <p:cNvSpPr/>
          <p:nvPr/>
        </p:nvSpPr>
        <p:spPr>
          <a:xfrm>
            <a:off x="1143001" y="6221330"/>
            <a:ext cx="3276600" cy="579763"/>
          </a:xfrm>
          <a:prstGeom prst="roundRect">
            <a:avLst>
              <a:gd name="adj" fmla="val 28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9BF83EFC-4EF9-ED25-98C9-22392ACEF8AE}"/>
              </a:ext>
            </a:extLst>
          </p:cNvPr>
          <p:cNvSpPr/>
          <p:nvPr/>
        </p:nvSpPr>
        <p:spPr>
          <a:xfrm>
            <a:off x="1236727" y="6364206"/>
            <a:ext cx="3089148" cy="278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שמירת הוצאה</a:t>
            </a:r>
            <a:endParaRPr lang="en-US" sz="1275" dirty="0"/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C9D9B8F4-8014-6E78-A9CE-3C0BE7F65101}"/>
              </a:ext>
            </a:extLst>
          </p:cNvPr>
          <p:cNvSpPr/>
          <p:nvPr/>
        </p:nvSpPr>
        <p:spPr>
          <a:xfrm>
            <a:off x="1211670" y="164474"/>
            <a:ext cx="308419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he-IL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</a:t>
            </a:r>
            <a:r>
              <a:rPr lang="en-US" sz="42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הוספת</a:t>
            </a: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הוצאה</a:t>
            </a: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77" name="Text 35">
            <a:extLst>
              <a:ext uri="{FF2B5EF4-FFF2-40B4-BE49-F238E27FC236}">
                <a16:creationId xmlns:a16="http://schemas.microsoft.com/office/drawing/2014/main" id="{9AD0424C-68D9-9A46-14EC-ED98B5863627}"/>
              </a:ext>
            </a:extLst>
          </p:cNvPr>
          <p:cNvSpPr/>
          <p:nvPr/>
        </p:nvSpPr>
        <p:spPr>
          <a:xfrm>
            <a:off x="5029200" y="1620130"/>
            <a:ext cx="3834765" cy="506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rtl="1">
              <a:lnSpc>
                <a:spcPct val="160000"/>
              </a:lnSpc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טופס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מהיר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וברור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שמכיל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endParaRPr lang="en-US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r" rt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סכום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ההוצאה</a:t>
            </a:r>
          </a:p>
          <a:p>
            <a:pPr marL="285750" indent="-285750" algn="r" rtl="1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r" rt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קטגוריה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בלחיצה</a:t>
            </a:r>
            <a:endParaRPr lang="he-IL" sz="180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r" rtl="1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r" rt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העסק</a:t>
            </a:r>
            <a:r>
              <a:rPr lang="he-IL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ותאריך ההוצאה</a:t>
            </a:r>
          </a:p>
          <a:p>
            <a:pPr marL="285750" indent="-285750" algn="r" rtl="1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r" rt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סימון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ההוצאה חד־פעמית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קבועה</a:t>
            </a:r>
            <a:endParaRPr lang="en-US" sz="180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 rtl="1">
              <a:lnSpc>
                <a:spcPct val="160000"/>
              </a:lnSpc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r" rt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אפשרות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לצרף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קבלה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ושמירה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ב־Storage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78" name="Shape 36">
            <a:extLst>
              <a:ext uri="{FF2B5EF4-FFF2-40B4-BE49-F238E27FC236}">
                <a16:creationId xmlns:a16="http://schemas.microsoft.com/office/drawing/2014/main" id="{B90B1CB8-9D04-B430-B686-8396FB35356D}"/>
              </a:ext>
            </a:extLst>
          </p:cNvPr>
          <p:cNvSpPr/>
          <p:nvPr/>
        </p:nvSpPr>
        <p:spPr>
          <a:xfrm>
            <a:off x="4658720" y="8279641"/>
            <a:ext cx="85725" cy="104357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he-IL">
              <a:solidFill>
                <a:schemeClr val="bg1"/>
              </a:solidFill>
            </a:endParaRPr>
          </a:p>
        </p:txBody>
      </p:sp>
      <p:sp>
        <p:nvSpPr>
          <p:cNvPr id="80" name="Shape 38">
            <a:extLst>
              <a:ext uri="{FF2B5EF4-FFF2-40B4-BE49-F238E27FC236}">
                <a16:creationId xmlns:a16="http://schemas.microsoft.com/office/drawing/2014/main" id="{4D916F8A-6701-18B6-52F4-8BF942B707FD}"/>
              </a:ext>
            </a:extLst>
          </p:cNvPr>
          <p:cNvSpPr/>
          <p:nvPr/>
        </p:nvSpPr>
        <p:spPr>
          <a:xfrm>
            <a:off x="4658720" y="8698741"/>
            <a:ext cx="85725" cy="85725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he-IL">
              <a:solidFill>
                <a:schemeClr val="bg1"/>
              </a:solidFill>
            </a:endParaRPr>
          </a:p>
        </p:txBody>
      </p:sp>
      <p:sp>
        <p:nvSpPr>
          <p:cNvPr id="82" name="Shape 40">
            <a:extLst>
              <a:ext uri="{FF2B5EF4-FFF2-40B4-BE49-F238E27FC236}">
                <a16:creationId xmlns:a16="http://schemas.microsoft.com/office/drawing/2014/main" id="{0E55815E-719E-D6AE-2AC8-6B2AFD9A3C7E}"/>
              </a:ext>
            </a:extLst>
          </p:cNvPr>
          <p:cNvSpPr/>
          <p:nvPr/>
        </p:nvSpPr>
        <p:spPr>
          <a:xfrm>
            <a:off x="4658720" y="9117841"/>
            <a:ext cx="85725" cy="85725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he-IL">
              <a:solidFill>
                <a:schemeClr val="bg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CA221FA-EF00-5794-1583-10EA57F33532}"/>
              </a:ext>
            </a:extLst>
          </p:cNvPr>
          <p:cNvGrpSpPr/>
          <p:nvPr/>
        </p:nvGrpSpPr>
        <p:grpSpPr>
          <a:xfrm>
            <a:off x="13763625" y="8013165"/>
            <a:ext cx="3733800" cy="595087"/>
            <a:chOff x="13763625" y="8013165"/>
            <a:chExt cx="3733800" cy="595087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91C14702-8341-BE2A-D74D-8854CA903CCD}"/>
                </a:ext>
              </a:extLst>
            </p:cNvPr>
            <p:cNvSpPr/>
            <p:nvPr/>
          </p:nvSpPr>
          <p:spPr>
            <a:xfrm>
              <a:off x="13763625" y="8023649"/>
              <a:ext cx="3733800" cy="584603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93F2DE8-D93A-BD3C-7BA2-5F2E89B12A61}"/>
                </a:ext>
              </a:extLst>
            </p:cNvPr>
            <p:cNvGrpSpPr/>
            <p:nvPr/>
          </p:nvGrpSpPr>
          <p:grpSpPr>
            <a:xfrm>
              <a:off x="14020800" y="8117467"/>
              <a:ext cx="399597" cy="384645"/>
              <a:chOff x="10030690" y="5240256"/>
              <a:chExt cx="2103253" cy="1563184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7F8BD494-9CB6-F3FC-CED3-E12BB74C754F}"/>
                  </a:ext>
                </a:extLst>
              </p:cNvPr>
              <p:cNvSpPr/>
              <p:nvPr/>
            </p:nvSpPr>
            <p:spPr>
              <a:xfrm>
                <a:off x="10030692" y="5240256"/>
                <a:ext cx="2103251" cy="438150"/>
              </a:xfrm>
              <a:prstGeom prst="rect">
                <a:avLst/>
              </a:prstGeom>
              <a:solidFill>
                <a:srgbClr val="0F766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9D578500-FD95-9164-9B90-D5356053A810}"/>
                  </a:ext>
                </a:extLst>
              </p:cNvPr>
              <p:cNvSpPr/>
              <p:nvPr/>
            </p:nvSpPr>
            <p:spPr>
              <a:xfrm>
                <a:off x="10030691" y="5815530"/>
                <a:ext cx="2103251" cy="438150"/>
              </a:xfrm>
              <a:prstGeom prst="rect">
                <a:avLst/>
              </a:prstGeom>
              <a:solidFill>
                <a:srgbClr val="0F766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1544F92-4D66-99E4-E623-15ECE45EF3DA}"/>
                  </a:ext>
                </a:extLst>
              </p:cNvPr>
              <p:cNvSpPr/>
              <p:nvPr/>
            </p:nvSpPr>
            <p:spPr>
              <a:xfrm>
                <a:off x="10030690" y="6365290"/>
                <a:ext cx="2103251" cy="438150"/>
              </a:xfrm>
              <a:prstGeom prst="rect">
                <a:avLst/>
              </a:prstGeom>
              <a:solidFill>
                <a:srgbClr val="0F766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</p:grpSp>
        <p:pic>
          <p:nvPicPr>
            <p:cNvPr id="95" name="Graphic 94" descr="Magnifying glass with solid fill">
              <a:extLst>
                <a:ext uri="{FF2B5EF4-FFF2-40B4-BE49-F238E27FC236}">
                  <a16:creationId xmlns:a16="http://schemas.microsoft.com/office/drawing/2014/main" id="{B03E645C-733F-4497-75F2-A549D6711D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396007" y="8023649"/>
              <a:ext cx="564035" cy="564035"/>
            </a:xfrm>
            <a:prstGeom prst="rect">
              <a:avLst/>
            </a:prstGeom>
          </p:spPr>
        </p:pic>
        <p:pic>
          <p:nvPicPr>
            <p:cNvPr id="97" name="Graphic 96" descr="User with solid fill">
              <a:extLst>
                <a:ext uri="{FF2B5EF4-FFF2-40B4-BE49-F238E27FC236}">
                  <a16:creationId xmlns:a16="http://schemas.microsoft.com/office/drawing/2014/main" id="{51CDC1A6-1D20-157C-2B23-2C2F663E12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734394" y="8013165"/>
              <a:ext cx="564035" cy="564035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BE2316BB-DDCC-5548-56CD-0DF30E4B9E92}"/>
              </a:ext>
            </a:extLst>
          </p:cNvPr>
          <p:cNvSpPr txBox="1"/>
          <p:nvPr/>
        </p:nvSpPr>
        <p:spPr>
          <a:xfrm>
            <a:off x="15892282" y="6358452"/>
            <a:ext cx="48260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00" dirty="0"/>
              <a:t>21/6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8634065-583F-2C80-73DC-1A008BFE843D}"/>
              </a:ext>
            </a:extLst>
          </p:cNvPr>
          <p:cNvSpPr txBox="1"/>
          <p:nvPr/>
        </p:nvSpPr>
        <p:spPr>
          <a:xfrm>
            <a:off x="16373351" y="6347258"/>
            <a:ext cx="48260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00" dirty="0"/>
              <a:t>22/6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8598105-DCD9-F675-CECA-BC4586092D92}"/>
              </a:ext>
            </a:extLst>
          </p:cNvPr>
          <p:cNvSpPr txBox="1"/>
          <p:nvPr/>
        </p:nvSpPr>
        <p:spPr>
          <a:xfrm>
            <a:off x="16833850" y="6347258"/>
            <a:ext cx="48260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00" dirty="0"/>
              <a:t>23/6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6D58653-600B-E1A1-0A41-0E5A5FAC939E}"/>
              </a:ext>
            </a:extLst>
          </p:cNvPr>
          <p:cNvSpPr txBox="1"/>
          <p:nvPr/>
        </p:nvSpPr>
        <p:spPr>
          <a:xfrm>
            <a:off x="14012682" y="6358452"/>
            <a:ext cx="48260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00" dirty="0"/>
              <a:t>24/6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D946971-441E-8D0F-4C6D-E522256F9707}"/>
              </a:ext>
            </a:extLst>
          </p:cNvPr>
          <p:cNvSpPr txBox="1"/>
          <p:nvPr/>
        </p:nvSpPr>
        <p:spPr>
          <a:xfrm>
            <a:off x="14495282" y="6347258"/>
            <a:ext cx="48260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00" dirty="0"/>
              <a:t>25/6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CFF10E4-E536-8D91-457B-035A871F6656}"/>
              </a:ext>
            </a:extLst>
          </p:cNvPr>
          <p:cNvSpPr txBox="1"/>
          <p:nvPr/>
        </p:nvSpPr>
        <p:spPr>
          <a:xfrm>
            <a:off x="14977882" y="6372505"/>
            <a:ext cx="48260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00" dirty="0"/>
              <a:t>26/6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52566DA-67A3-2AC5-7A2A-05BCF293DF1A}"/>
              </a:ext>
            </a:extLst>
          </p:cNvPr>
          <p:cNvSpPr txBox="1"/>
          <p:nvPr/>
        </p:nvSpPr>
        <p:spPr>
          <a:xfrm>
            <a:off x="15452364" y="6358452"/>
            <a:ext cx="48260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00" dirty="0"/>
              <a:t>27/6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4AB3225-82E9-92AE-479D-E4018449920D}"/>
              </a:ext>
            </a:extLst>
          </p:cNvPr>
          <p:cNvGrpSpPr/>
          <p:nvPr/>
        </p:nvGrpSpPr>
        <p:grpSpPr>
          <a:xfrm>
            <a:off x="15731877" y="2994661"/>
            <a:ext cx="1706493" cy="566796"/>
            <a:chOff x="13990707" y="2944731"/>
            <a:chExt cx="1706493" cy="566796"/>
          </a:xfrm>
        </p:grpSpPr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9401377A-4C7E-4546-81B0-6993257620CF}"/>
                </a:ext>
              </a:extLst>
            </p:cNvPr>
            <p:cNvSpPr/>
            <p:nvPr/>
          </p:nvSpPr>
          <p:spPr>
            <a:xfrm>
              <a:off x="14116050" y="2944731"/>
              <a:ext cx="1581150" cy="566796"/>
            </a:xfrm>
            <a:prstGeom prst="roundRect">
              <a:avLst/>
            </a:prstGeom>
            <a:solidFill>
              <a:srgbClr val="11A39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8181A74-683A-5FD1-4C18-C7C91892C295}"/>
                </a:ext>
              </a:extLst>
            </p:cNvPr>
            <p:cNvSpPr txBox="1"/>
            <p:nvPr/>
          </p:nvSpPr>
          <p:spPr>
            <a:xfrm>
              <a:off x="13990707" y="3055647"/>
              <a:ext cx="1514475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r" rtl="1"/>
              <a:r>
                <a:rPr lang="he-IL" sz="1400" dirty="0">
                  <a:solidFill>
                    <a:schemeClr val="bg1"/>
                  </a:solidFill>
                </a:rPr>
                <a:t>הוספת הוצאה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9ACC6D0-A392-597A-156D-71233A904845}"/>
              </a:ext>
            </a:extLst>
          </p:cNvPr>
          <p:cNvGrpSpPr/>
          <p:nvPr/>
        </p:nvGrpSpPr>
        <p:grpSpPr>
          <a:xfrm>
            <a:off x="13990320" y="2981462"/>
            <a:ext cx="1592580" cy="566796"/>
            <a:chOff x="14116050" y="2944731"/>
            <a:chExt cx="1592580" cy="566796"/>
          </a:xfrm>
        </p:grpSpPr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02BF9672-2E64-8204-6925-487D0C442FEA}"/>
                </a:ext>
              </a:extLst>
            </p:cNvPr>
            <p:cNvSpPr/>
            <p:nvPr/>
          </p:nvSpPr>
          <p:spPr>
            <a:xfrm>
              <a:off x="14116050" y="2944731"/>
              <a:ext cx="1581150" cy="566796"/>
            </a:xfrm>
            <a:prstGeom prst="roundRect">
              <a:avLst/>
            </a:prstGeom>
            <a:solidFill>
              <a:srgbClr val="11A39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794C0E4-DFB4-4545-F6F0-CA33EC2C0644}"/>
                </a:ext>
              </a:extLst>
            </p:cNvPr>
            <p:cNvSpPr txBox="1"/>
            <p:nvPr/>
          </p:nvSpPr>
          <p:spPr>
            <a:xfrm>
              <a:off x="14135889" y="3068006"/>
              <a:ext cx="1572741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r" rtl="1"/>
              <a:r>
                <a:rPr lang="he-IL" sz="1400" dirty="0">
                  <a:solidFill>
                    <a:schemeClr val="bg1"/>
                  </a:solidFill>
                </a:rPr>
                <a:t>חלוקה לפי קטגוריות</a:t>
              </a:r>
            </a:p>
          </p:txBody>
        </p:sp>
      </p:grpSp>
      <p:sp>
        <p:nvSpPr>
          <p:cNvPr id="113" name="Shape 27">
            <a:extLst>
              <a:ext uri="{FF2B5EF4-FFF2-40B4-BE49-F238E27FC236}">
                <a16:creationId xmlns:a16="http://schemas.microsoft.com/office/drawing/2014/main" id="{944C05AF-F54C-1E3A-11BE-6DADF7F70811}"/>
              </a:ext>
            </a:extLst>
          </p:cNvPr>
          <p:cNvSpPr/>
          <p:nvPr/>
        </p:nvSpPr>
        <p:spPr>
          <a:xfrm>
            <a:off x="13912763" y="7330494"/>
            <a:ext cx="3411066" cy="528744"/>
          </a:xfrm>
          <a:prstGeom prst="roundRect">
            <a:avLst>
              <a:gd name="adj" fmla="val 22665"/>
            </a:avLst>
          </a:prstGeom>
          <a:solidFill>
            <a:srgbClr val="D8F3EC"/>
          </a:solidFill>
          <a:ln w="9525">
            <a:solidFill>
              <a:srgbClr val="9AD9C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4" name="Text 29">
            <a:extLst>
              <a:ext uri="{FF2B5EF4-FFF2-40B4-BE49-F238E27FC236}">
                <a16:creationId xmlns:a16="http://schemas.microsoft.com/office/drawing/2014/main" id="{4F1D66CC-3C78-ED40-314A-41195E336CD7}"/>
              </a:ext>
            </a:extLst>
          </p:cNvPr>
          <p:cNvSpPr/>
          <p:nvPr/>
        </p:nvSpPr>
        <p:spPr>
          <a:xfrm>
            <a:off x="14035489" y="7407816"/>
            <a:ext cx="3071961" cy="49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rtl="1">
              <a:lnSpc>
                <a:spcPct val="145000"/>
              </a:lnSpc>
            </a:pPr>
            <a:r>
              <a:rPr lang="he-IL" sz="1050" dirty="0">
                <a:solidFill>
                  <a:srgbClr val="0C443D"/>
                </a:solidFill>
                <a:latin typeface="Arial" pitchFamily="34" charset="0"/>
                <a:cs typeface="Arial" pitchFamily="34" charset="-120"/>
              </a:rPr>
              <a:t>סך החובות הנוכחי מכל הקבוצות הוא:</a:t>
            </a:r>
            <a:r>
              <a:rPr lang="en-US" sz="1050" dirty="0">
                <a:solidFill>
                  <a:srgbClr val="0C443D"/>
                </a:solidFill>
                <a:latin typeface="Arial" pitchFamily="34" charset="0"/>
                <a:cs typeface="Arial" pitchFamily="34" charset="-120"/>
              </a:rPr>
              <a:t>  </a:t>
            </a: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</a:t>
            </a:r>
            <a:r>
              <a:rPr lang="he-IL" sz="1400" dirty="0">
                <a:solidFill>
                  <a:srgbClr val="00B050"/>
                </a:solidFill>
                <a:latin typeface="Arial" pitchFamily="34" charset="0"/>
                <a:cs typeface="Arial" pitchFamily="34" charset="-120"/>
              </a:rPr>
              <a:t>300 </a:t>
            </a:r>
            <a:r>
              <a:rPr lang="he-IL" sz="1050" dirty="0">
                <a:latin typeface="Arial" pitchFamily="34" charset="0"/>
                <a:cs typeface="Arial" pitchFamily="34" charset="-120"/>
              </a:rPr>
              <a:t>לזכותך</a:t>
            </a:r>
            <a:endParaRPr lang="en-US" sz="105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AA0116C-1F5C-E8E7-1320-6CB4B454FC46}"/>
              </a:ext>
            </a:extLst>
          </p:cNvPr>
          <p:cNvSpPr/>
          <p:nvPr/>
        </p:nvSpPr>
        <p:spPr>
          <a:xfrm>
            <a:off x="903836" y="7282517"/>
            <a:ext cx="3753889" cy="584603"/>
          </a:xfrm>
          <a:prstGeom prst="round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1326E82-3EE1-028A-F915-2842A9C958FB}"/>
              </a:ext>
            </a:extLst>
          </p:cNvPr>
          <p:cNvGrpSpPr/>
          <p:nvPr/>
        </p:nvGrpSpPr>
        <p:grpSpPr>
          <a:xfrm>
            <a:off x="1161012" y="7376335"/>
            <a:ext cx="399597" cy="384645"/>
            <a:chOff x="10030690" y="5240256"/>
            <a:chExt cx="2103253" cy="156318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73E0F5-2434-DE1D-15E8-D2C170555D3D}"/>
                </a:ext>
              </a:extLst>
            </p:cNvPr>
            <p:cNvSpPr/>
            <p:nvPr/>
          </p:nvSpPr>
          <p:spPr>
            <a:xfrm>
              <a:off x="10030692" y="5240256"/>
              <a:ext cx="2103251" cy="438150"/>
            </a:xfrm>
            <a:prstGeom prst="rect">
              <a:avLst/>
            </a:prstGeom>
            <a:solidFill>
              <a:srgbClr val="0F76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BA4ED16-F675-DBF6-9036-913E7689F0FA}"/>
                </a:ext>
              </a:extLst>
            </p:cNvPr>
            <p:cNvSpPr/>
            <p:nvPr/>
          </p:nvSpPr>
          <p:spPr>
            <a:xfrm>
              <a:off x="10030691" y="5815530"/>
              <a:ext cx="2103251" cy="438150"/>
            </a:xfrm>
            <a:prstGeom prst="rect">
              <a:avLst/>
            </a:prstGeom>
            <a:solidFill>
              <a:srgbClr val="0F76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3620AEA-3A47-5D9C-07A2-15282FD7CF35}"/>
                </a:ext>
              </a:extLst>
            </p:cNvPr>
            <p:cNvSpPr/>
            <p:nvPr/>
          </p:nvSpPr>
          <p:spPr>
            <a:xfrm>
              <a:off x="10030690" y="6365290"/>
              <a:ext cx="2103251" cy="438150"/>
            </a:xfrm>
            <a:prstGeom prst="rect">
              <a:avLst/>
            </a:prstGeom>
            <a:solidFill>
              <a:srgbClr val="0F76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pic>
        <p:nvPicPr>
          <p:cNvPr id="39" name="Graphic 38" descr="Magnifying glass with solid fill">
            <a:extLst>
              <a:ext uri="{FF2B5EF4-FFF2-40B4-BE49-F238E27FC236}">
                <a16:creationId xmlns:a16="http://schemas.microsoft.com/office/drawing/2014/main" id="{7C8D2B44-8622-075A-709B-0903322EB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6219" y="7282517"/>
            <a:ext cx="564035" cy="564035"/>
          </a:xfrm>
          <a:prstGeom prst="rect">
            <a:avLst/>
          </a:prstGeom>
        </p:spPr>
      </p:pic>
      <p:pic>
        <p:nvPicPr>
          <p:cNvPr id="40" name="Graphic 39" descr="User with solid fill">
            <a:extLst>
              <a:ext uri="{FF2B5EF4-FFF2-40B4-BE49-F238E27FC236}">
                <a16:creationId xmlns:a16="http://schemas.microsoft.com/office/drawing/2014/main" id="{5407647A-11E1-436A-1D5F-B3D56C5588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4606" y="7272033"/>
            <a:ext cx="564035" cy="564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>
            <a:extLst>
              <a:ext uri="{FF2B5EF4-FFF2-40B4-BE49-F238E27FC236}">
                <a16:creationId xmlns:a16="http://schemas.microsoft.com/office/drawing/2014/main" id="{17E5851F-B419-B97C-AF0B-757F38CC544C}"/>
              </a:ext>
            </a:extLst>
          </p:cNvPr>
          <p:cNvSpPr/>
          <p:nvPr/>
        </p:nvSpPr>
        <p:spPr>
          <a:xfrm>
            <a:off x="-68065" y="-91284"/>
            <a:ext cx="7227677" cy="10367530"/>
          </a:xfrm>
          <a:prstGeom prst="rect">
            <a:avLst/>
          </a:prstGeom>
          <a:solidFill>
            <a:srgbClr val="0F76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1113DA-6169-AC92-E8CF-A04DA94576A3}"/>
              </a:ext>
            </a:extLst>
          </p:cNvPr>
          <p:cNvSpPr/>
          <p:nvPr/>
        </p:nvSpPr>
        <p:spPr>
          <a:xfrm>
            <a:off x="13011796" y="-49790"/>
            <a:ext cx="5305643" cy="10367530"/>
          </a:xfrm>
          <a:prstGeom prst="rect">
            <a:avLst/>
          </a:prstGeom>
          <a:solidFill>
            <a:srgbClr val="0F76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Shape 0"/>
          <p:cNvSpPr/>
          <p:nvPr/>
        </p:nvSpPr>
        <p:spPr>
          <a:xfrm>
            <a:off x="13620750" y="1047750"/>
            <a:ext cx="4000500" cy="5573911"/>
          </a:xfrm>
          <a:prstGeom prst="roundRect">
            <a:avLst>
              <a:gd name="adj" fmla="val 11429"/>
            </a:avLst>
          </a:prstGeom>
          <a:solidFill>
            <a:srgbClr val="0C3B36"/>
          </a:solidFill>
          <a:ln/>
          <a:effectLst>
            <a:outerShdw blurRad="857250" dist="381000" dir="5400000" algn="bl" rotWithShape="0">
              <a:srgbClr val="0C3B36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13754100" y="1181100"/>
            <a:ext cx="3733800" cy="5059047"/>
          </a:xfrm>
          <a:prstGeom prst="roundRect">
            <a:avLst>
              <a:gd name="adj" fmla="val 9184"/>
            </a:avLst>
          </a:prstGeom>
          <a:solidFill>
            <a:srgbClr val="EEF3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0" name="Shape 2">
            <a:extLst>
              <a:ext uri="{FF2B5EF4-FFF2-40B4-BE49-F238E27FC236}">
                <a16:creationId xmlns:a16="http://schemas.microsoft.com/office/drawing/2014/main" id="{BF2CD4C3-2EF1-4097-A736-BF48947281E6}"/>
              </a:ext>
            </a:extLst>
          </p:cNvPr>
          <p:cNvSpPr/>
          <p:nvPr/>
        </p:nvSpPr>
        <p:spPr>
          <a:xfrm>
            <a:off x="13719810" y="1164133"/>
            <a:ext cx="3821966" cy="992195"/>
          </a:xfrm>
          <a:prstGeom prst="rect">
            <a:avLst/>
          </a:prstGeom>
          <a:solidFill>
            <a:srgbClr val="0C3B3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3754100" y="1264890"/>
            <a:ext cx="3733800" cy="678210"/>
          </a:xfrm>
          <a:prstGeom prst="rect">
            <a:avLst/>
          </a:prstGeom>
          <a:noFill/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3982700" y="1409700"/>
            <a:ext cx="36042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ניתוחים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982700" y="1628775"/>
            <a:ext cx="36042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rtl="1">
              <a:buNone/>
            </a:pPr>
            <a:r>
              <a:rPr lang="en-US" sz="97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יוני 2026</a:t>
            </a:r>
            <a:endParaRPr lang="en-US" sz="975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44600" y="2114550"/>
            <a:ext cx="3352800" cy="14859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5982950" y="2286000"/>
            <a:ext cx="1143000" cy="11430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16249650" y="2552700"/>
            <a:ext cx="609600" cy="609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15716250" y="24669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5120938" y="2440335"/>
            <a:ext cx="5539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מזון · 29%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15716250" y="26955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15001355" y="2662238"/>
            <a:ext cx="6856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בילויים · 21%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15716250" y="29241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15069220" y="2890838"/>
            <a:ext cx="617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קניות · 16%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5722600" y="3120628"/>
            <a:ext cx="95250" cy="95250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14988332" y="3088035"/>
            <a:ext cx="7374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תחבורה · 12%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13944600" y="3752850"/>
            <a:ext cx="3352800" cy="1381125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14097000" y="3905250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 בין חודשים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15706725" y="4276725"/>
            <a:ext cx="438150" cy="514350"/>
          </a:xfrm>
          <a:prstGeom prst="roundRect">
            <a:avLst>
              <a:gd name="adj" fmla="val 17391"/>
            </a:avLst>
          </a:prstGeom>
          <a:solidFill>
            <a:srgbClr val="CBE7E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15668625" y="4848225"/>
            <a:ext cx="514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16247201" y="4086225"/>
            <a:ext cx="438150" cy="704850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16249650" y="4840635"/>
            <a:ext cx="514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יוני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13944600" y="5286375"/>
            <a:ext cx="3352800" cy="653355"/>
          </a:xfrm>
          <a:prstGeom prst="roundRect">
            <a:avLst>
              <a:gd name="adj" fmla="val 23326"/>
            </a:avLst>
          </a:prstGeom>
          <a:solidFill>
            <a:srgbClr val="0C3B36"/>
          </a:solidFill>
          <a:ln/>
        </p:spPr>
        <p:txBody>
          <a:bodyPr/>
          <a:lstStyle/>
          <a:p>
            <a:pPr algn="r" rtl="1"/>
            <a:r>
              <a:rPr lang="he-IL" sz="1600" dirty="0">
                <a:solidFill>
                  <a:schemeClr val="bg1"/>
                </a:solidFill>
              </a:rPr>
              <a:t>ההוצאה הגדולה שלך החודש הייתה על סך 570 ₪ מ- "מוסך אבי ובניו בע"מ"</a:t>
            </a:r>
          </a:p>
        </p:txBody>
      </p:sp>
      <p:sp>
        <p:nvSpPr>
          <p:cNvPr id="25" name="Text 23"/>
          <p:cNvSpPr/>
          <p:nvPr/>
        </p:nvSpPr>
        <p:spPr>
          <a:xfrm>
            <a:off x="14097000" y="5419725"/>
            <a:ext cx="314858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lnSpc>
                <a:spcPct val="145000"/>
              </a:lnSpc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566506" y="328977"/>
            <a:ext cx="5070764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he-IL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</a:t>
            </a:r>
            <a:r>
              <a:rPr lang="en-US" sz="42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ניתוחים</a:t>
            </a: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וגרפים</a:t>
            </a: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420798" y="6672642"/>
            <a:ext cx="4362451" cy="2282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 rtl="1">
              <a:lnSpc>
                <a:spcPct val="16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הלב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האפליקציה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נתונים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הופכים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לתובנות</a:t>
            </a:r>
            <a:endParaRPr lang="en-US" sz="180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r" rtl="1">
              <a:lnSpc>
                <a:spcPct val="160000"/>
              </a:lnSpc>
              <a:buNone/>
            </a:pPr>
            <a:endParaRPr lang="en-US" sz="180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r" rt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עוגת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קטגוריות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פילוח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הוצאות </a:t>
            </a:r>
            <a:r>
              <a:rPr lang="en-US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קטגוריה</a:t>
            </a:r>
            <a:endParaRPr lang="en-US" sz="180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r" rt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בין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חודשים</a:t>
            </a:r>
            <a:endParaRPr lang="en-US" sz="180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r" rt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he-IL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סימון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הוצאות</a:t>
            </a: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חריגות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91A8936D-91B0-E53C-578E-0F9A94FB349E}"/>
              </a:ext>
            </a:extLst>
          </p:cNvPr>
          <p:cNvSpPr/>
          <p:nvPr/>
        </p:nvSpPr>
        <p:spPr>
          <a:xfrm>
            <a:off x="15163874" y="4188403"/>
            <a:ext cx="438150" cy="602672"/>
          </a:xfrm>
          <a:prstGeom prst="roundRect">
            <a:avLst>
              <a:gd name="adj" fmla="val 17391"/>
            </a:avLst>
          </a:prstGeom>
          <a:solidFill>
            <a:srgbClr val="CBE7E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741B6486-32C8-BBEC-997E-32327EF5839F}"/>
              </a:ext>
            </a:extLst>
          </p:cNvPr>
          <p:cNvSpPr/>
          <p:nvPr/>
        </p:nvSpPr>
        <p:spPr>
          <a:xfrm>
            <a:off x="14621023" y="4112824"/>
            <a:ext cx="438150" cy="687607"/>
          </a:xfrm>
          <a:prstGeom prst="roundRect">
            <a:avLst>
              <a:gd name="adj" fmla="val 17391"/>
            </a:avLst>
          </a:prstGeom>
          <a:solidFill>
            <a:srgbClr val="CBE7E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42570F90-A76A-A493-2DC1-0D2C83FAAAA2}"/>
              </a:ext>
            </a:extLst>
          </p:cNvPr>
          <p:cNvSpPr/>
          <p:nvPr/>
        </p:nvSpPr>
        <p:spPr>
          <a:xfrm>
            <a:off x="14087623" y="4341235"/>
            <a:ext cx="438150" cy="451647"/>
          </a:xfrm>
          <a:prstGeom prst="roundRect">
            <a:avLst>
              <a:gd name="adj" fmla="val 17391"/>
            </a:avLst>
          </a:prstGeom>
          <a:solidFill>
            <a:srgbClr val="CBE7E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773D011F-6DB1-9820-58D1-E2C3EA4DBA91}"/>
              </a:ext>
            </a:extLst>
          </p:cNvPr>
          <p:cNvSpPr/>
          <p:nvPr/>
        </p:nvSpPr>
        <p:spPr>
          <a:xfrm>
            <a:off x="15120938" y="4832854"/>
            <a:ext cx="514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he-IL" sz="825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אפריל</a:t>
            </a:r>
            <a:endParaRPr lang="en-US" sz="825" dirty="0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244DBD18-9D86-8C9C-1332-6D0124285A12}"/>
              </a:ext>
            </a:extLst>
          </p:cNvPr>
          <p:cNvSpPr/>
          <p:nvPr/>
        </p:nvSpPr>
        <p:spPr>
          <a:xfrm>
            <a:off x="14587538" y="4832854"/>
            <a:ext cx="514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he-IL" sz="825" dirty="0">
                <a:solidFill>
                  <a:srgbClr val="647A75"/>
                </a:solidFill>
                <a:latin typeface="Arial" pitchFamily="34" charset="0"/>
                <a:cs typeface="Arial" pitchFamily="34" charset="-120"/>
              </a:rPr>
              <a:t>מרץ</a:t>
            </a:r>
            <a:endParaRPr lang="en-US" sz="825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055226B7-408E-40D8-1F1A-8D3B942FAC60}"/>
              </a:ext>
            </a:extLst>
          </p:cNvPr>
          <p:cNvSpPr/>
          <p:nvPr/>
        </p:nvSpPr>
        <p:spPr>
          <a:xfrm>
            <a:off x="14039851" y="4840635"/>
            <a:ext cx="514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he-IL" sz="825" dirty="0">
                <a:solidFill>
                  <a:srgbClr val="64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פברואר</a:t>
            </a:r>
            <a:endParaRPr lang="en-US" sz="825" dirty="0"/>
          </a:p>
        </p:txBody>
      </p:sp>
      <p:sp>
        <p:nvSpPr>
          <p:cNvPr id="128" name="Text 38">
            <a:extLst>
              <a:ext uri="{FF2B5EF4-FFF2-40B4-BE49-F238E27FC236}">
                <a16:creationId xmlns:a16="http://schemas.microsoft.com/office/drawing/2014/main" id="{E5386DD9-B3A9-1A7B-23B7-60E9CA95F1AD}"/>
              </a:ext>
            </a:extLst>
          </p:cNvPr>
          <p:cNvSpPr/>
          <p:nvPr/>
        </p:nvSpPr>
        <p:spPr>
          <a:xfrm>
            <a:off x="8020308" y="138148"/>
            <a:ext cx="4130792" cy="575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משותפת</a:t>
            </a:r>
            <a:endParaRPr lang="en-US" sz="4200" dirty="0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B3566678-91A7-8C39-24DA-2A76F69D4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651" y="2194606"/>
            <a:ext cx="1181534" cy="1237640"/>
          </a:xfrm>
          <a:prstGeom prst="rect">
            <a:avLst/>
          </a:prstGeom>
        </p:spPr>
      </p:pic>
      <p:sp>
        <p:nvSpPr>
          <p:cNvPr id="138" name="Shape 14">
            <a:extLst>
              <a:ext uri="{FF2B5EF4-FFF2-40B4-BE49-F238E27FC236}">
                <a16:creationId xmlns:a16="http://schemas.microsoft.com/office/drawing/2014/main" id="{37466B88-3437-044C-F186-DCE83B56D9CC}"/>
              </a:ext>
            </a:extLst>
          </p:cNvPr>
          <p:cNvSpPr/>
          <p:nvPr/>
        </p:nvSpPr>
        <p:spPr>
          <a:xfrm>
            <a:off x="15723226" y="3299006"/>
            <a:ext cx="95250" cy="95250"/>
          </a:xfrm>
          <a:prstGeom prst="roundRect">
            <a:avLst>
              <a:gd name="adj" fmla="val 3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39" name="Text 15">
            <a:extLst>
              <a:ext uri="{FF2B5EF4-FFF2-40B4-BE49-F238E27FC236}">
                <a16:creationId xmlns:a16="http://schemas.microsoft.com/office/drawing/2014/main" id="{F14FE9F0-8F20-3B7F-35D0-695D435AB621}"/>
              </a:ext>
            </a:extLst>
          </p:cNvPr>
          <p:cNvSpPr/>
          <p:nvPr/>
        </p:nvSpPr>
        <p:spPr>
          <a:xfrm>
            <a:off x="15081033" y="3273028"/>
            <a:ext cx="7374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he-IL" sz="900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שונות</a:t>
            </a:r>
            <a:r>
              <a:rPr lang="en-US" sz="900" dirty="0">
                <a:solidFill>
                  <a:srgbClr val="1421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12%</a:t>
            </a:r>
            <a:endParaRPr lang="en-US" sz="900" dirty="0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4B91FE3-3930-6D06-AC1A-7EF919F5EFEE}"/>
              </a:ext>
            </a:extLst>
          </p:cNvPr>
          <p:cNvGrpSpPr/>
          <p:nvPr/>
        </p:nvGrpSpPr>
        <p:grpSpPr>
          <a:xfrm>
            <a:off x="8627967" y="833991"/>
            <a:ext cx="4011930" cy="6184323"/>
            <a:chOff x="6881037" y="813088"/>
            <a:chExt cx="4011930" cy="6184323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76FEB7B0-06E8-C812-9425-8CBE4FB09812}"/>
                </a:ext>
              </a:extLst>
            </p:cNvPr>
            <p:cNvGrpSpPr/>
            <p:nvPr/>
          </p:nvGrpSpPr>
          <p:grpSpPr>
            <a:xfrm>
              <a:off x="6881037" y="813088"/>
              <a:ext cx="4011930" cy="6184323"/>
              <a:chOff x="1143000" y="1047749"/>
              <a:chExt cx="4011930" cy="6184323"/>
            </a:xfrm>
          </p:grpSpPr>
          <p:sp>
            <p:nvSpPr>
              <p:cNvPr id="90" name="Shape 0">
                <a:extLst>
                  <a:ext uri="{FF2B5EF4-FFF2-40B4-BE49-F238E27FC236}">
                    <a16:creationId xmlns:a16="http://schemas.microsoft.com/office/drawing/2014/main" id="{821DF251-7332-304F-3182-5D445249B76A}"/>
                  </a:ext>
                </a:extLst>
              </p:cNvPr>
              <p:cNvSpPr/>
              <p:nvPr/>
            </p:nvSpPr>
            <p:spPr>
              <a:xfrm>
                <a:off x="1143000" y="1047749"/>
                <a:ext cx="4000500" cy="6184323"/>
              </a:xfrm>
              <a:prstGeom prst="roundRect">
                <a:avLst>
                  <a:gd name="adj" fmla="val 11429"/>
                </a:avLst>
              </a:prstGeom>
              <a:solidFill>
                <a:srgbClr val="0C3B36"/>
              </a:solidFill>
              <a:ln/>
              <a:effectLst>
                <a:outerShdw blurRad="857250" dist="381000" dir="5400000" algn="bl" rotWithShape="0">
                  <a:srgbClr val="0C3B36">
                    <a:alpha val="28000"/>
                  </a:srgbClr>
                </a:outerShdw>
              </a:effec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91" name="Shape 1">
                <a:extLst>
                  <a:ext uri="{FF2B5EF4-FFF2-40B4-BE49-F238E27FC236}">
                    <a16:creationId xmlns:a16="http://schemas.microsoft.com/office/drawing/2014/main" id="{25023434-9BC3-5F1B-8F55-AB8BEA19EA41}"/>
                  </a:ext>
                </a:extLst>
              </p:cNvPr>
              <p:cNvSpPr/>
              <p:nvPr/>
            </p:nvSpPr>
            <p:spPr>
              <a:xfrm>
                <a:off x="1276350" y="1181100"/>
                <a:ext cx="3733800" cy="5654873"/>
              </a:xfrm>
              <a:prstGeom prst="roundRect">
                <a:avLst>
                  <a:gd name="adj" fmla="val 9184"/>
                </a:avLst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92" name="Shape 2">
                <a:extLst>
                  <a:ext uri="{FF2B5EF4-FFF2-40B4-BE49-F238E27FC236}">
                    <a16:creationId xmlns:a16="http://schemas.microsoft.com/office/drawing/2014/main" id="{38E1A1BB-4C91-3C0F-FC94-8351D74523ED}"/>
                  </a:ext>
                </a:extLst>
              </p:cNvPr>
              <p:cNvSpPr/>
              <p:nvPr/>
            </p:nvSpPr>
            <p:spPr>
              <a:xfrm>
                <a:off x="1276350" y="1181100"/>
                <a:ext cx="3733800" cy="1428750"/>
              </a:xfrm>
              <a:prstGeom prst="rect">
                <a:avLst/>
              </a:prstGeom>
              <a:solidFill>
                <a:srgbClr val="0C3B36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93" name="Text 3">
                <a:extLst>
                  <a:ext uri="{FF2B5EF4-FFF2-40B4-BE49-F238E27FC236}">
                    <a16:creationId xmlns:a16="http://schemas.microsoft.com/office/drawing/2014/main" id="{95978DA6-F1FA-4E0C-EFA7-92D57133946C}"/>
                  </a:ext>
                </a:extLst>
              </p:cNvPr>
              <p:cNvSpPr/>
              <p:nvPr/>
            </p:nvSpPr>
            <p:spPr>
              <a:xfrm>
                <a:off x="1504950" y="1409700"/>
                <a:ext cx="3604260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dirty="0">
                    <a:solidFill>
                      <a:srgbClr val="7FE3C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קבוצה משותפת</a:t>
                </a:r>
                <a:endParaRPr lang="en-US" sz="975" dirty="0"/>
              </a:p>
            </p:txBody>
          </p:sp>
          <p:sp>
            <p:nvSpPr>
              <p:cNvPr id="94" name="Text 4">
                <a:extLst>
                  <a:ext uri="{FF2B5EF4-FFF2-40B4-BE49-F238E27FC236}">
                    <a16:creationId xmlns:a16="http://schemas.microsoft.com/office/drawing/2014/main" id="{E93BD2E6-4B4A-7DF5-D7E6-38D6754F740F}"/>
                  </a:ext>
                </a:extLst>
              </p:cNvPr>
              <p:cNvSpPr/>
              <p:nvPr/>
            </p:nvSpPr>
            <p:spPr>
              <a:xfrm>
                <a:off x="1504950" y="1628775"/>
                <a:ext cx="3604260" cy="33337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l">
                  <a:buNone/>
                </a:pPr>
                <a:r>
                  <a:rPr lang="en-US" sz="1950" b="1" dirty="0">
                    <a:solidFill>
                      <a:srgbClr val="EAFAF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דירה תל אביב</a:t>
                </a:r>
                <a:endParaRPr lang="en-US" sz="1950" dirty="0"/>
              </a:p>
            </p:txBody>
          </p:sp>
          <p:sp>
            <p:nvSpPr>
              <p:cNvPr id="95" name="Shape 5">
                <a:extLst>
                  <a:ext uri="{FF2B5EF4-FFF2-40B4-BE49-F238E27FC236}">
                    <a16:creationId xmlns:a16="http://schemas.microsoft.com/office/drawing/2014/main" id="{EE285FD9-A3C3-8F00-29DD-9C3EC53CDE25}"/>
                  </a:ext>
                </a:extLst>
              </p:cNvPr>
              <p:cNvSpPr/>
              <p:nvPr/>
            </p:nvSpPr>
            <p:spPr>
              <a:xfrm>
                <a:off x="4457700" y="2057400"/>
                <a:ext cx="323850" cy="323850"/>
              </a:xfrm>
              <a:prstGeom prst="ellipse">
                <a:avLst/>
              </a:prstGeom>
              <a:solidFill>
                <a:srgbClr val="5EEAD4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96" name="Text 6">
                <a:extLst>
                  <a:ext uri="{FF2B5EF4-FFF2-40B4-BE49-F238E27FC236}">
                    <a16:creationId xmlns:a16="http://schemas.microsoft.com/office/drawing/2014/main" id="{A18F37C1-0E6B-F606-7B86-5EE33E72E7F0}"/>
                  </a:ext>
                </a:extLst>
              </p:cNvPr>
              <p:cNvSpPr/>
              <p:nvPr/>
            </p:nvSpPr>
            <p:spPr>
              <a:xfrm>
                <a:off x="4419600" y="2057400"/>
                <a:ext cx="400050" cy="3619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0C3B3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א</a:t>
                </a:r>
                <a:endParaRPr lang="en-US" sz="1050" dirty="0"/>
              </a:p>
            </p:txBody>
          </p:sp>
          <p:sp>
            <p:nvSpPr>
              <p:cNvPr id="97" name="Shape 7">
                <a:extLst>
                  <a:ext uri="{FF2B5EF4-FFF2-40B4-BE49-F238E27FC236}">
                    <a16:creationId xmlns:a16="http://schemas.microsoft.com/office/drawing/2014/main" id="{A72D76B3-2744-2581-1F17-4C34BB70700D}"/>
                  </a:ext>
                </a:extLst>
              </p:cNvPr>
              <p:cNvSpPr/>
              <p:nvPr/>
            </p:nvSpPr>
            <p:spPr>
              <a:xfrm>
                <a:off x="4210050" y="2057400"/>
                <a:ext cx="323850" cy="323850"/>
              </a:xfrm>
              <a:prstGeom prst="ellipse">
                <a:avLst/>
              </a:prstGeom>
              <a:solidFill>
                <a:srgbClr val="F59E0B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98" name="Text 8">
                <a:extLst>
                  <a:ext uri="{FF2B5EF4-FFF2-40B4-BE49-F238E27FC236}">
                    <a16:creationId xmlns:a16="http://schemas.microsoft.com/office/drawing/2014/main" id="{56C477D4-D3CD-247A-9321-7E924CA5D155}"/>
                  </a:ext>
                </a:extLst>
              </p:cNvPr>
              <p:cNvSpPr/>
              <p:nvPr/>
            </p:nvSpPr>
            <p:spPr>
              <a:xfrm>
                <a:off x="4171950" y="2057400"/>
                <a:ext cx="400050" cy="3619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י</a:t>
                </a:r>
                <a:endParaRPr lang="en-US" sz="1050" dirty="0"/>
              </a:p>
            </p:txBody>
          </p:sp>
          <p:sp>
            <p:nvSpPr>
              <p:cNvPr id="99" name="Shape 9">
                <a:extLst>
                  <a:ext uri="{FF2B5EF4-FFF2-40B4-BE49-F238E27FC236}">
                    <a16:creationId xmlns:a16="http://schemas.microsoft.com/office/drawing/2014/main" id="{16311273-7CE7-DD90-749E-91A8AF151F4B}"/>
                  </a:ext>
                </a:extLst>
              </p:cNvPr>
              <p:cNvSpPr/>
              <p:nvPr/>
            </p:nvSpPr>
            <p:spPr>
              <a:xfrm>
                <a:off x="3962400" y="2057400"/>
                <a:ext cx="323850" cy="323850"/>
              </a:xfrm>
              <a:prstGeom prst="ellipse">
                <a:avLst/>
              </a:prstGeom>
              <a:solidFill>
                <a:srgbClr val="6366F1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00" name="Text 10">
                <a:extLst>
                  <a:ext uri="{FF2B5EF4-FFF2-40B4-BE49-F238E27FC236}">
                    <a16:creationId xmlns:a16="http://schemas.microsoft.com/office/drawing/2014/main" id="{43BA8CCD-0895-8E26-FF5F-7518C067B03B}"/>
                  </a:ext>
                </a:extLst>
              </p:cNvPr>
              <p:cNvSpPr/>
              <p:nvPr/>
            </p:nvSpPr>
            <p:spPr>
              <a:xfrm>
                <a:off x="3924300" y="2057400"/>
                <a:ext cx="400050" cy="3619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ד</a:t>
                </a:r>
                <a:endParaRPr lang="en-US" sz="1050" dirty="0"/>
              </a:p>
            </p:txBody>
          </p:sp>
          <p:sp>
            <p:nvSpPr>
              <p:cNvPr id="101" name="Text 11">
                <a:extLst>
                  <a:ext uri="{FF2B5EF4-FFF2-40B4-BE49-F238E27FC236}">
                    <a16:creationId xmlns:a16="http://schemas.microsoft.com/office/drawing/2014/main" id="{A08CE148-FDC5-575F-1FFF-5CF9A7124B3B}"/>
                  </a:ext>
                </a:extLst>
              </p:cNvPr>
              <p:cNvSpPr/>
              <p:nvPr/>
            </p:nvSpPr>
            <p:spPr>
              <a:xfrm>
                <a:off x="3488382" y="2138363"/>
                <a:ext cx="454968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/>
              </a:bodyPr>
              <a:lstStyle/>
              <a:p>
                <a:pPr marL="0" indent="0" algn="l">
                  <a:buNone/>
                </a:pPr>
                <a:r>
                  <a:rPr lang="en-US" sz="975" dirty="0">
                    <a:solidFill>
                      <a:srgbClr val="BDEAE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 חברים</a:t>
                </a:r>
                <a:endParaRPr lang="en-US" sz="975" dirty="0"/>
              </a:p>
            </p:txBody>
          </p:sp>
          <p:sp>
            <p:nvSpPr>
              <p:cNvPr id="102" name="Shape 12">
                <a:extLst>
                  <a:ext uri="{FF2B5EF4-FFF2-40B4-BE49-F238E27FC236}">
                    <a16:creationId xmlns:a16="http://schemas.microsoft.com/office/drawing/2014/main" id="{C86A8D47-1F63-A5FE-9FF0-8D0308819DC1}"/>
                  </a:ext>
                </a:extLst>
              </p:cNvPr>
              <p:cNvSpPr/>
              <p:nvPr/>
            </p:nvSpPr>
            <p:spPr>
              <a:xfrm>
                <a:off x="1466850" y="2781300"/>
                <a:ext cx="33528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EEF3F1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03" name="Text 13">
                <a:extLst>
                  <a:ext uri="{FF2B5EF4-FFF2-40B4-BE49-F238E27FC236}">
                    <a16:creationId xmlns:a16="http://schemas.microsoft.com/office/drawing/2014/main" id="{A3210E40-7163-5D7D-699E-F7313EB904A4}"/>
                  </a:ext>
                </a:extLst>
              </p:cNvPr>
              <p:cNvSpPr/>
              <p:nvPr/>
            </p:nvSpPr>
            <p:spPr>
              <a:xfrm>
                <a:off x="2805888" y="2825461"/>
                <a:ext cx="1937562" cy="28921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r" rtl="1">
                  <a:buNone/>
                </a:pPr>
                <a:r>
                  <a:rPr lang="he-IL" sz="975" dirty="0">
                    <a:solidFill>
                      <a:srgbClr val="647A7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סך הוצאות משותפות בחודש האחרון</a:t>
                </a:r>
                <a:endParaRPr lang="en-US" sz="975" dirty="0"/>
              </a:p>
            </p:txBody>
          </p:sp>
          <p:sp>
            <p:nvSpPr>
              <p:cNvPr id="104" name="Text 14">
                <a:extLst>
                  <a:ext uri="{FF2B5EF4-FFF2-40B4-BE49-F238E27FC236}">
                    <a16:creationId xmlns:a16="http://schemas.microsoft.com/office/drawing/2014/main" id="{B039B49B-8D77-20B3-5FBF-55059E651B03}"/>
                  </a:ext>
                </a:extLst>
              </p:cNvPr>
              <p:cNvSpPr/>
              <p:nvPr/>
            </p:nvSpPr>
            <p:spPr>
              <a:xfrm>
                <a:off x="1619250" y="2914650"/>
                <a:ext cx="893564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dirty="0">
                    <a:solidFill>
                      <a:srgbClr val="647A7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₪1,820</a:t>
                </a:r>
                <a:endParaRPr lang="en-US" sz="975" dirty="0"/>
              </a:p>
            </p:txBody>
          </p:sp>
          <p:sp>
            <p:nvSpPr>
              <p:cNvPr id="107" name="Text 17">
                <a:extLst>
                  <a:ext uri="{FF2B5EF4-FFF2-40B4-BE49-F238E27FC236}">
                    <a16:creationId xmlns:a16="http://schemas.microsoft.com/office/drawing/2014/main" id="{4940FF7F-9773-1078-D6C2-0C6DDB1C7579}"/>
                  </a:ext>
                </a:extLst>
              </p:cNvPr>
              <p:cNvSpPr/>
              <p:nvPr/>
            </p:nvSpPr>
            <p:spPr>
              <a:xfrm>
                <a:off x="1466850" y="3543300"/>
                <a:ext cx="3688080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dirty="0">
                    <a:solidFill>
                      <a:srgbClr val="647A7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הוצאות משותפות אחרונות</a:t>
                </a:r>
                <a:endParaRPr lang="en-US" sz="975" dirty="0"/>
              </a:p>
            </p:txBody>
          </p:sp>
          <p:sp>
            <p:nvSpPr>
              <p:cNvPr id="108" name="Shape 18">
                <a:extLst>
                  <a:ext uri="{FF2B5EF4-FFF2-40B4-BE49-F238E27FC236}">
                    <a16:creationId xmlns:a16="http://schemas.microsoft.com/office/drawing/2014/main" id="{A4C1219A-11FC-9511-6DC6-7D91FF500C1C}"/>
                  </a:ext>
                </a:extLst>
              </p:cNvPr>
              <p:cNvSpPr/>
              <p:nvPr/>
            </p:nvSpPr>
            <p:spPr>
              <a:xfrm>
                <a:off x="1466850" y="4429125"/>
                <a:ext cx="3352800" cy="9525"/>
              </a:xfrm>
              <a:prstGeom prst="rect">
                <a:avLst/>
              </a:prstGeom>
              <a:solidFill>
                <a:srgbClr val="F0F4F2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09" name="Shape 19">
                <a:extLst>
                  <a:ext uri="{FF2B5EF4-FFF2-40B4-BE49-F238E27FC236}">
                    <a16:creationId xmlns:a16="http://schemas.microsoft.com/office/drawing/2014/main" id="{B12DFFDF-0E8C-62FD-3C35-A8BEED69A8AE}"/>
                  </a:ext>
                </a:extLst>
              </p:cNvPr>
              <p:cNvSpPr/>
              <p:nvPr/>
            </p:nvSpPr>
            <p:spPr>
              <a:xfrm>
                <a:off x="4419600" y="3952875"/>
                <a:ext cx="361950" cy="361950"/>
              </a:xfrm>
              <a:prstGeom prst="roundRect">
                <a:avLst>
                  <a:gd name="adj" fmla="val 28947"/>
                </a:avLst>
              </a:prstGeom>
              <a:solidFill>
                <a:srgbClr val="EEF3F1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10" name="Text 20">
                <a:extLst>
                  <a:ext uri="{FF2B5EF4-FFF2-40B4-BE49-F238E27FC236}">
                    <a16:creationId xmlns:a16="http://schemas.microsoft.com/office/drawing/2014/main" id="{54E9425E-EA46-7F3C-04B9-0E213015F74A}"/>
                  </a:ext>
                </a:extLst>
              </p:cNvPr>
              <p:cNvSpPr/>
              <p:nvPr/>
            </p:nvSpPr>
            <p:spPr>
              <a:xfrm>
                <a:off x="4381500" y="3952875"/>
                <a:ext cx="438150" cy="4000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350" dirty="0">
                    <a:solidFill>
                      <a:srgbClr val="1421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💡</a:t>
                </a:r>
                <a:endParaRPr lang="en-US" sz="1350" dirty="0"/>
              </a:p>
            </p:txBody>
          </p:sp>
          <p:sp>
            <p:nvSpPr>
              <p:cNvPr id="111" name="Text 21">
                <a:extLst>
                  <a:ext uri="{FF2B5EF4-FFF2-40B4-BE49-F238E27FC236}">
                    <a16:creationId xmlns:a16="http://schemas.microsoft.com/office/drawing/2014/main" id="{690290CC-C1F1-CB4F-EEA0-40788FA720F3}"/>
                  </a:ext>
                </a:extLst>
              </p:cNvPr>
              <p:cNvSpPr/>
              <p:nvPr/>
            </p:nvSpPr>
            <p:spPr>
              <a:xfrm>
                <a:off x="3861048" y="3981450"/>
                <a:ext cx="520452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125" b="1" dirty="0">
                    <a:solidFill>
                      <a:srgbClr val="1421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חשמל</a:t>
                </a:r>
                <a:endParaRPr lang="en-US" sz="1125" dirty="0"/>
              </a:p>
            </p:txBody>
          </p:sp>
          <p:sp>
            <p:nvSpPr>
              <p:cNvPr id="112" name="Text 22">
                <a:extLst>
                  <a:ext uri="{FF2B5EF4-FFF2-40B4-BE49-F238E27FC236}">
                    <a16:creationId xmlns:a16="http://schemas.microsoft.com/office/drawing/2014/main" id="{238A0D3B-5FD8-6FA7-B0E0-7E08DC2BF32F}"/>
                  </a:ext>
                </a:extLst>
              </p:cNvPr>
              <p:cNvSpPr/>
              <p:nvPr/>
            </p:nvSpPr>
            <p:spPr>
              <a:xfrm>
                <a:off x="3861048" y="4143375"/>
                <a:ext cx="520452" cy="18097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/>
              </a:bodyPr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647A7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שילם: </a:t>
                </a:r>
                <a:r>
                  <a:rPr lang="he-IL" sz="900" dirty="0">
                    <a:solidFill>
                      <a:srgbClr val="647A7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ארד</a:t>
                </a:r>
                <a:endParaRPr lang="en-US" sz="900" dirty="0"/>
              </a:p>
            </p:txBody>
          </p:sp>
          <p:sp>
            <p:nvSpPr>
              <p:cNvPr id="113" name="Text 23">
                <a:extLst>
                  <a:ext uri="{FF2B5EF4-FFF2-40B4-BE49-F238E27FC236}">
                    <a16:creationId xmlns:a16="http://schemas.microsoft.com/office/drawing/2014/main" id="{10327D37-1FE3-C4E1-8C07-A90E3F847584}"/>
                  </a:ext>
                </a:extLst>
              </p:cNvPr>
              <p:cNvSpPr/>
              <p:nvPr/>
            </p:nvSpPr>
            <p:spPr>
              <a:xfrm>
                <a:off x="1504950" y="4048125"/>
                <a:ext cx="454819" cy="2095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421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₪240</a:t>
                </a:r>
                <a:endParaRPr lang="en-US" sz="1200" dirty="0"/>
              </a:p>
            </p:txBody>
          </p:sp>
          <p:sp>
            <p:nvSpPr>
              <p:cNvPr id="114" name="Shape 24">
                <a:extLst>
                  <a:ext uri="{FF2B5EF4-FFF2-40B4-BE49-F238E27FC236}">
                    <a16:creationId xmlns:a16="http://schemas.microsoft.com/office/drawing/2014/main" id="{3035628D-1553-A3D2-D1FA-4ED1379E31CC}"/>
                  </a:ext>
                </a:extLst>
              </p:cNvPr>
              <p:cNvSpPr/>
              <p:nvPr/>
            </p:nvSpPr>
            <p:spPr>
              <a:xfrm>
                <a:off x="1466850" y="5162550"/>
                <a:ext cx="3352800" cy="9525"/>
              </a:xfrm>
              <a:prstGeom prst="rect">
                <a:avLst/>
              </a:prstGeom>
              <a:solidFill>
                <a:srgbClr val="F0F4F2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15" name="Shape 25">
                <a:extLst>
                  <a:ext uri="{FF2B5EF4-FFF2-40B4-BE49-F238E27FC236}">
                    <a16:creationId xmlns:a16="http://schemas.microsoft.com/office/drawing/2014/main" id="{9B594E7F-9207-D335-5DD7-FF14A4F5A984}"/>
                  </a:ext>
                </a:extLst>
              </p:cNvPr>
              <p:cNvSpPr/>
              <p:nvPr/>
            </p:nvSpPr>
            <p:spPr>
              <a:xfrm>
                <a:off x="4419600" y="4686300"/>
                <a:ext cx="361950" cy="361950"/>
              </a:xfrm>
              <a:prstGeom prst="roundRect">
                <a:avLst>
                  <a:gd name="adj" fmla="val 28947"/>
                </a:avLst>
              </a:prstGeom>
              <a:solidFill>
                <a:srgbClr val="EEF3F1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16" name="Text 26">
                <a:extLst>
                  <a:ext uri="{FF2B5EF4-FFF2-40B4-BE49-F238E27FC236}">
                    <a16:creationId xmlns:a16="http://schemas.microsoft.com/office/drawing/2014/main" id="{715FDCC4-9266-8103-0AF1-576EEFDFEB06}"/>
                  </a:ext>
                </a:extLst>
              </p:cNvPr>
              <p:cNvSpPr/>
              <p:nvPr/>
            </p:nvSpPr>
            <p:spPr>
              <a:xfrm>
                <a:off x="4381500" y="4686300"/>
                <a:ext cx="438150" cy="4000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350" dirty="0">
                    <a:solidFill>
                      <a:srgbClr val="1421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🌐</a:t>
                </a:r>
                <a:endParaRPr lang="en-US" sz="1350" dirty="0"/>
              </a:p>
            </p:txBody>
          </p:sp>
          <p:sp>
            <p:nvSpPr>
              <p:cNvPr id="117" name="Text 27">
                <a:extLst>
                  <a:ext uri="{FF2B5EF4-FFF2-40B4-BE49-F238E27FC236}">
                    <a16:creationId xmlns:a16="http://schemas.microsoft.com/office/drawing/2014/main" id="{7E4C8FF0-8375-7BF2-1BD1-7C341869905E}"/>
                  </a:ext>
                </a:extLst>
              </p:cNvPr>
              <p:cNvSpPr/>
              <p:nvPr/>
            </p:nvSpPr>
            <p:spPr>
              <a:xfrm>
                <a:off x="3847505" y="4714875"/>
                <a:ext cx="533995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125" b="1" dirty="0">
                    <a:solidFill>
                      <a:srgbClr val="1421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אינטרנט</a:t>
                </a:r>
                <a:endParaRPr lang="en-US" sz="1125" dirty="0"/>
              </a:p>
            </p:txBody>
          </p:sp>
          <p:sp>
            <p:nvSpPr>
              <p:cNvPr id="118" name="Text 28">
                <a:extLst>
                  <a:ext uri="{FF2B5EF4-FFF2-40B4-BE49-F238E27FC236}">
                    <a16:creationId xmlns:a16="http://schemas.microsoft.com/office/drawing/2014/main" id="{6F002B10-606E-6934-38D2-3BFD6314DB1C}"/>
                  </a:ext>
                </a:extLst>
              </p:cNvPr>
              <p:cNvSpPr/>
              <p:nvPr/>
            </p:nvSpPr>
            <p:spPr>
              <a:xfrm>
                <a:off x="3847505" y="4876800"/>
                <a:ext cx="533995" cy="18097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/>
              </a:bodyPr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647A7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שילם: </a:t>
                </a:r>
                <a:r>
                  <a:rPr lang="he-IL" sz="900" dirty="0">
                    <a:solidFill>
                      <a:srgbClr val="647A7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דניאל</a:t>
                </a:r>
                <a:endParaRPr lang="en-US" sz="900" dirty="0"/>
              </a:p>
            </p:txBody>
          </p:sp>
          <p:sp>
            <p:nvSpPr>
              <p:cNvPr id="119" name="Text 29">
                <a:extLst>
                  <a:ext uri="{FF2B5EF4-FFF2-40B4-BE49-F238E27FC236}">
                    <a16:creationId xmlns:a16="http://schemas.microsoft.com/office/drawing/2014/main" id="{04D2C94F-D1DE-F7C3-92D1-F67CDC5A1F44}"/>
                  </a:ext>
                </a:extLst>
              </p:cNvPr>
              <p:cNvSpPr/>
              <p:nvPr/>
            </p:nvSpPr>
            <p:spPr>
              <a:xfrm>
                <a:off x="1504950" y="4781550"/>
                <a:ext cx="369987" cy="2095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421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₪90</a:t>
                </a:r>
                <a:endParaRPr lang="en-US" sz="1200" dirty="0"/>
              </a:p>
            </p:txBody>
          </p:sp>
          <p:sp>
            <p:nvSpPr>
              <p:cNvPr id="120" name="Shape 30">
                <a:extLst>
                  <a:ext uri="{FF2B5EF4-FFF2-40B4-BE49-F238E27FC236}">
                    <a16:creationId xmlns:a16="http://schemas.microsoft.com/office/drawing/2014/main" id="{CE5B9A6D-9680-5BDE-0B05-45BAD756B7B0}"/>
                  </a:ext>
                </a:extLst>
              </p:cNvPr>
              <p:cNvSpPr/>
              <p:nvPr/>
            </p:nvSpPr>
            <p:spPr>
              <a:xfrm>
                <a:off x="4419600" y="5419725"/>
                <a:ext cx="361950" cy="361950"/>
              </a:xfrm>
              <a:prstGeom prst="roundRect">
                <a:avLst>
                  <a:gd name="adj" fmla="val 28947"/>
                </a:avLst>
              </a:prstGeom>
              <a:solidFill>
                <a:srgbClr val="EEF3F1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21" name="Text 31">
                <a:extLst>
                  <a:ext uri="{FF2B5EF4-FFF2-40B4-BE49-F238E27FC236}">
                    <a16:creationId xmlns:a16="http://schemas.microsoft.com/office/drawing/2014/main" id="{7802FD92-6634-54C2-6EBE-2E1E49EB3554}"/>
                  </a:ext>
                </a:extLst>
              </p:cNvPr>
              <p:cNvSpPr/>
              <p:nvPr/>
            </p:nvSpPr>
            <p:spPr>
              <a:xfrm>
                <a:off x="4381500" y="5419725"/>
                <a:ext cx="438150" cy="4000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350" dirty="0">
                    <a:solidFill>
                      <a:srgbClr val="1421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🧺</a:t>
                </a:r>
                <a:endParaRPr lang="en-US" sz="1350" dirty="0"/>
              </a:p>
            </p:txBody>
          </p:sp>
          <p:sp>
            <p:nvSpPr>
              <p:cNvPr id="122" name="Text 32">
                <a:extLst>
                  <a:ext uri="{FF2B5EF4-FFF2-40B4-BE49-F238E27FC236}">
                    <a16:creationId xmlns:a16="http://schemas.microsoft.com/office/drawing/2014/main" id="{0F6B048A-EA11-D9A7-EE9C-DD22EFC46FF7}"/>
                  </a:ext>
                </a:extLst>
              </p:cNvPr>
              <p:cNvSpPr/>
              <p:nvPr/>
            </p:nvSpPr>
            <p:spPr>
              <a:xfrm>
                <a:off x="3703737" y="5448300"/>
                <a:ext cx="677763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125" b="1" dirty="0">
                    <a:solidFill>
                      <a:srgbClr val="1421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קניות לבית</a:t>
                </a:r>
                <a:endParaRPr lang="en-US" sz="1125" dirty="0"/>
              </a:p>
            </p:txBody>
          </p:sp>
          <p:sp>
            <p:nvSpPr>
              <p:cNvPr id="123" name="Text 33">
                <a:extLst>
                  <a:ext uri="{FF2B5EF4-FFF2-40B4-BE49-F238E27FC236}">
                    <a16:creationId xmlns:a16="http://schemas.microsoft.com/office/drawing/2014/main" id="{071455E7-2632-461B-E714-1813843E2256}"/>
                  </a:ext>
                </a:extLst>
              </p:cNvPr>
              <p:cNvSpPr/>
              <p:nvPr/>
            </p:nvSpPr>
            <p:spPr>
              <a:xfrm>
                <a:off x="3703737" y="5610225"/>
                <a:ext cx="677763" cy="18097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l">
                  <a:buNone/>
                </a:pPr>
                <a:r>
                  <a:rPr lang="en-US" sz="900" dirty="0">
                    <a:solidFill>
                      <a:srgbClr val="647A7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שילם: </a:t>
                </a:r>
                <a:r>
                  <a:rPr lang="he-IL" sz="900" dirty="0">
                    <a:solidFill>
                      <a:srgbClr val="647A7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יואב</a:t>
                </a:r>
                <a:endParaRPr lang="en-US" sz="900" dirty="0"/>
              </a:p>
            </p:txBody>
          </p:sp>
          <p:sp>
            <p:nvSpPr>
              <p:cNvPr id="124" name="Text 34">
                <a:extLst>
                  <a:ext uri="{FF2B5EF4-FFF2-40B4-BE49-F238E27FC236}">
                    <a16:creationId xmlns:a16="http://schemas.microsoft.com/office/drawing/2014/main" id="{97ED1C77-47D3-FBF9-6B36-503F6FB5ED58}"/>
                  </a:ext>
                </a:extLst>
              </p:cNvPr>
              <p:cNvSpPr/>
              <p:nvPr/>
            </p:nvSpPr>
            <p:spPr>
              <a:xfrm>
                <a:off x="1504950" y="5514975"/>
                <a:ext cx="454819" cy="2095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4211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₪318</a:t>
                </a:r>
                <a:endParaRPr lang="en-US" sz="1200" dirty="0"/>
              </a:p>
            </p:txBody>
          </p:sp>
          <p:sp>
            <p:nvSpPr>
              <p:cNvPr id="125" name="Shape 35">
                <a:extLst>
                  <a:ext uri="{FF2B5EF4-FFF2-40B4-BE49-F238E27FC236}">
                    <a16:creationId xmlns:a16="http://schemas.microsoft.com/office/drawing/2014/main" id="{36866A0D-70AC-FC40-505E-241E31671979}"/>
                  </a:ext>
                </a:extLst>
              </p:cNvPr>
              <p:cNvSpPr/>
              <p:nvPr/>
            </p:nvSpPr>
            <p:spPr>
              <a:xfrm>
                <a:off x="1466850" y="6029325"/>
                <a:ext cx="1739088" cy="438150"/>
              </a:xfrm>
              <a:prstGeom prst="roundRect">
                <a:avLst>
                  <a:gd name="adj" fmla="val 30435"/>
                </a:avLst>
              </a:prstGeom>
              <a:solidFill>
                <a:srgbClr val="14C6B1"/>
              </a:solidFill>
              <a:ln/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26" name="Text 36">
                <a:extLst>
                  <a:ext uri="{FF2B5EF4-FFF2-40B4-BE49-F238E27FC236}">
                    <a16:creationId xmlns:a16="http://schemas.microsoft.com/office/drawing/2014/main" id="{BE557E1D-E16E-2148-ECB8-CD82ABEA047E}"/>
                  </a:ext>
                </a:extLst>
              </p:cNvPr>
              <p:cNvSpPr/>
              <p:nvPr/>
            </p:nvSpPr>
            <p:spPr>
              <a:xfrm>
                <a:off x="1549908" y="6103847"/>
                <a:ext cx="1532205" cy="26837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ctr" rtl="1">
                  <a:buNone/>
                </a:pPr>
                <a:r>
                  <a:rPr lang="he-IL" sz="1200" b="1" dirty="0">
                    <a:solidFill>
                      <a:srgbClr val="FFFFFF"/>
                    </a:solidFill>
                    <a:latin typeface="Arial" pitchFamily="34" charset="0"/>
                    <a:cs typeface="Arial" pitchFamily="34" charset="-120"/>
                  </a:rPr>
                  <a:t>סיכום חובות וזכויות</a:t>
                </a:r>
                <a:endParaRPr lang="en-US" sz="1200" dirty="0"/>
              </a:p>
            </p:txBody>
          </p:sp>
        </p:grpSp>
        <p:sp>
          <p:nvSpPr>
            <p:cNvPr id="140" name="Shape 35">
              <a:extLst>
                <a:ext uri="{FF2B5EF4-FFF2-40B4-BE49-F238E27FC236}">
                  <a16:creationId xmlns:a16="http://schemas.microsoft.com/office/drawing/2014/main" id="{71731AD3-431E-5CDB-ADC8-B2985AFB0499}"/>
                </a:ext>
              </a:extLst>
            </p:cNvPr>
            <p:cNvSpPr/>
            <p:nvPr/>
          </p:nvSpPr>
          <p:spPr>
            <a:xfrm>
              <a:off x="9070236" y="5794664"/>
              <a:ext cx="1529538" cy="438150"/>
            </a:xfrm>
            <a:prstGeom prst="roundRect">
              <a:avLst>
                <a:gd name="adj" fmla="val 30435"/>
              </a:avLst>
            </a:prstGeom>
            <a:solidFill>
              <a:srgbClr val="0C3B36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142" name="Text 36">
              <a:extLst>
                <a:ext uri="{FF2B5EF4-FFF2-40B4-BE49-F238E27FC236}">
                  <a16:creationId xmlns:a16="http://schemas.microsoft.com/office/drawing/2014/main" id="{B9E692CB-BC0A-0538-45B9-F8A754BA2838}"/>
                </a:ext>
              </a:extLst>
            </p:cNvPr>
            <p:cNvSpPr/>
            <p:nvPr/>
          </p:nvSpPr>
          <p:spPr>
            <a:xfrm>
              <a:off x="9067569" y="5869186"/>
              <a:ext cx="1532205" cy="26837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 rtl="1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הוספת</a:t>
              </a: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הוצאה משותפת</a:t>
              </a:r>
              <a:endParaRPr lang="en-US" sz="1200" dirty="0"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486A9502-2304-697F-BC53-74C6543D8D18}"/>
              </a:ext>
            </a:extLst>
          </p:cNvPr>
          <p:cNvSpPr txBox="1"/>
          <p:nvPr/>
        </p:nvSpPr>
        <p:spPr>
          <a:xfrm>
            <a:off x="6998829" y="7134271"/>
            <a:ext cx="5641068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קבוצת איסוף הוצאות משותפת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לשותפים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לדירה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זוגות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משפחות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טיולים</a:t>
            </a:r>
            <a:r>
              <a:rPr lang="he-IL" dirty="0">
                <a:latin typeface="Arial" pitchFamily="34" charset="0"/>
                <a:ea typeface="Arial" pitchFamily="34" charset="-122"/>
                <a:cs typeface="Arial" pitchFamily="34" charset="-120"/>
              </a:rPr>
              <a:t> וכו'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עוקבת אחרי כל הוצאה ומראה כמה כל אחד שילם ועל מה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עושה חישוב כללי של חובות וזכויות לכל אחד מחברי הקבוצה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מסכמת הוצאות לפי חודשים ומראה פילוג הוצאות לפי קטגוריות</a:t>
            </a:r>
          </a:p>
        </p:txBody>
      </p:sp>
      <p:sp>
        <p:nvSpPr>
          <p:cNvPr id="144" name="Arrow: Left 143">
            <a:extLst>
              <a:ext uri="{FF2B5EF4-FFF2-40B4-BE49-F238E27FC236}">
                <a16:creationId xmlns:a16="http://schemas.microsoft.com/office/drawing/2014/main" id="{A01A911D-8499-92B2-5BE8-03ABFEC9BF9C}"/>
              </a:ext>
            </a:extLst>
          </p:cNvPr>
          <p:cNvSpPr/>
          <p:nvPr/>
        </p:nvSpPr>
        <p:spPr>
          <a:xfrm rot="2043034">
            <a:off x="6867682" y="3188281"/>
            <a:ext cx="1802860" cy="876300"/>
          </a:xfrm>
          <a:prstGeom prst="leftArrow">
            <a:avLst/>
          </a:prstGeom>
          <a:solidFill>
            <a:srgbClr val="0C3B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5" name="Text 38">
            <a:extLst>
              <a:ext uri="{FF2B5EF4-FFF2-40B4-BE49-F238E27FC236}">
                <a16:creationId xmlns:a16="http://schemas.microsoft.com/office/drawing/2014/main" id="{B3EAB78A-FD93-940C-4859-56BC94D50425}"/>
              </a:ext>
            </a:extLst>
          </p:cNvPr>
          <p:cNvSpPr/>
          <p:nvPr/>
        </p:nvSpPr>
        <p:spPr>
          <a:xfrm>
            <a:off x="2803223" y="111065"/>
            <a:ext cx="4130792" cy="575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he-IL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הוצאה משותפת</a:t>
            </a:r>
            <a:endParaRPr lang="en-US" sz="4200" dirty="0">
              <a:solidFill>
                <a:schemeClr val="bg1"/>
              </a:solidFill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BF1E100-FEF9-5680-3B2D-08FD1045E9AC}"/>
              </a:ext>
            </a:extLst>
          </p:cNvPr>
          <p:cNvGrpSpPr/>
          <p:nvPr/>
        </p:nvGrpSpPr>
        <p:grpSpPr>
          <a:xfrm>
            <a:off x="3052849" y="768001"/>
            <a:ext cx="4000500" cy="3936956"/>
            <a:chOff x="442768" y="1311420"/>
            <a:chExt cx="4000500" cy="3936956"/>
          </a:xfrm>
        </p:grpSpPr>
        <p:sp>
          <p:nvSpPr>
            <p:cNvPr id="61" name="Shape 0">
              <a:extLst>
                <a:ext uri="{FF2B5EF4-FFF2-40B4-BE49-F238E27FC236}">
                  <a16:creationId xmlns:a16="http://schemas.microsoft.com/office/drawing/2014/main" id="{CEAD8383-ED10-2A3F-26F2-0B9A6320F75D}"/>
                </a:ext>
              </a:extLst>
            </p:cNvPr>
            <p:cNvSpPr/>
            <p:nvPr/>
          </p:nvSpPr>
          <p:spPr>
            <a:xfrm>
              <a:off x="442768" y="1311420"/>
              <a:ext cx="4000500" cy="3936956"/>
            </a:xfrm>
            <a:prstGeom prst="roundRect">
              <a:avLst>
                <a:gd name="adj" fmla="val 11429"/>
              </a:avLst>
            </a:prstGeom>
            <a:solidFill>
              <a:srgbClr val="0C3B36"/>
            </a:solidFill>
            <a:ln/>
            <a:effectLst>
              <a:outerShdw blurRad="857250" dist="381000" dir="5400000" algn="bl" rotWithShape="0">
                <a:srgbClr val="0C3B36">
                  <a:alpha val="28000"/>
                </a:srgbClr>
              </a:outerShdw>
            </a:effectLst>
          </p:spPr>
          <p:txBody>
            <a:bodyPr/>
            <a:lstStyle/>
            <a:p>
              <a:endParaRPr lang="he-IL"/>
            </a:p>
          </p:txBody>
        </p:sp>
        <p:sp>
          <p:nvSpPr>
            <p:cNvPr id="62" name="Shape 1">
              <a:extLst>
                <a:ext uri="{FF2B5EF4-FFF2-40B4-BE49-F238E27FC236}">
                  <a16:creationId xmlns:a16="http://schemas.microsoft.com/office/drawing/2014/main" id="{293552DA-2517-1A50-4319-05A5CBC77D48}"/>
                </a:ext>
              </a:extLst>
            </p:cNvPr>
            <p:cNvSpPr/>
            <p:nvPr/>
          </p:nvSpPr>
          <p:spPr>
            <a:xfrm>
              <a:off x="576118" y="1444769"/>
              <a:ext cx="3733800" cy="3638217"/>
            </a:xfrm>
            <a:prstGeom prst="roundRect">
              <a:avLst>
                <a:gd name="adj" fmla="val 9184"/>
              </a:avLst>
            </a:prstGeom>
            <a:solidFill>
              <a:srgbClr val="EEF3F1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65" name="Shape 5">
              <a:extLst>
                <a:ext uri="{FF2B5EF4-FFF2-40B4-BE49-F238E27FC236}">
                  <a16:creationId xmlns:a16="http://schemas.microsoft.com/office/drawing/2014/main" id="{2DC93934-0819-8398-D1AB-AC1057B85D0B}"/>
                </a:ext>
              </a:extLst>
            </p:cNvPr>
            <p:cNvSpPr/>
            <p:nvPr/>
          </p:nvSpPr>
          <p:spPr>
            <a:xfrm>
              <a:off x="766618" y="2378219"/>
              <a:ext cx="3352800" cy="1819275"/>
            </a:xfrm>
            <a:prstGeom prst="roundRect">
              <a:avLst>
                <a:gd name="adj" fmla="val 8377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66" name="Text 6">
              <a:extLst>
                <a:ext uri="{FF2B5EF4-FFF2-40B4-BE49-F238E27FC236}">
                  <a16:creationId xmlns:a16="http://schemas.microsoft.com/office/drawing/2014/main" id="{CCFC0A56-88B9-3D22-5852-272D64F7221F}"/>
                </a:ext>
              </a:extLst>
            </p:cNvPr>
            <p:cNvSpPr/>
            <p:nvPr/>
          </p:nvSpPr>
          <p:spPr>
            <a:xfrm>
              <a:off x="3433469" y="2568719"/>
              <a:ext cx="60974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647A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קניות לבית</a:t>
              </a:r>
              <a:endParaRPr lang="en-US" sz="1050" dirty="0"/>
            </a:p>
          </p:txBody>
        </p:sp>
        <p:sp>
          <p:nvSpPr>
            <p:cNvPr id="67" name="Text 7">
              <a:extLst>
                <a:ext uri="{FF2B5EF4-FFF2-40B4-BE49-F238E27FC236}">
                  <a16:creationId xmlns:a16="http://schemas.microsoft.com/office/drawing/2014/main" id="{6CFABDDE-B7D3-3AB7-AA4E-F35674ADA49B}"/>
                </a:ext>
              </a:extLst>
            </p:cNvPr>
            <p:cNvSpPr/>
            <p:nvPr/>
          </p:nvSpPr>
          <p:spPr>
            <a:xfrm>
              <a:off x="919018" y="2530619"/>
              <a:ext cx="596801" cy="2857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421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₪300</a:t>
              </a:r>
              <a:endParaRPr lang="en-US" sz="1650" dirty="0"/>
            </a:p>
          </p:txBody>
        </p:sp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B80237C6-CBCE-B13A-A412-36EE7C86E622}"/>
                </a:ext>
              </a:extLst>
            </p:cNvPr>
            <p:cNvSpPr/>
            <p:nvPr/>
          </p:nvSpPr>
          <p:spPr>
            <a:xfrm>
              <a:off x="3001868" y="2911619"/>
              <a:ext cx="965150" cy="314325"/>
            </a:xfrm>
            <a:prstGeom prst="roundRect">
              <a:avLst>
                <a:gd name="adj" fmla="val 30303"/>
              </a:avLst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69" name="Text 9">
              <a:extLst>
                <a:ext uri="{FF2B5EF4-FFF2-40B4-BE49-F238E27FC236}">
                  <a16:creationId xmlns:a16="http://schemas.microsoft.com/office/drawing/2014/main" id="{B1D9518A-1E8B-9B3F-6491-0ABEC39B2B05}"/>
                </a:ext>
              </a:extLst>
            </p:cNvPr>
            <p:cNvSpPr/>
            <p:nvPr/>
          </p:nvSpPr>
          <p:spPr>
            <a:xfrm>
              <a:off x="3039968" y="2987819"/>
              <a:ext cx="888950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שווה</a:t>
              </a:r>
              <a:endParaRPr lang="en-US" sz="975" dirty="0"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397A5A45-1082-6244-D504-48CBD0A1FFB5}"/>
                </a:ext>
              </a:extLst>
            </p:cNvPr>
            <p:cNvSpPr/>
            <p:nvPr/>
          </p:nvSpPr>
          <p:spPr>
            <a:xfrm>
              <a:off x="1960368" y="2911619"/>
              <a:ext cx="965299" cy="314325"/>
            </a:xfrm>
            <a:prstGeom prst="roundRect">
              <a:avLst>
                <a:gd name="adj" fmla="val 30303"/>
              </a:avLst>
            </a:prstGeom>
            <a:solidFill>
              <a:srgbClr val="EEF3F1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71" name="Text 11">
              <a:extLst>
                <a:ext uri="{FF2B5EF4-FFF2-40B4-BE49-F238E27FC236}">
                  <a16:creationId xmlns:a16="http://schemas.microsoft.com/office/drawing/2014/main" id="{7112C537-04CF-1AAB-D556-7EFE318CF956}"/>
                </a:ext>
              </a:extLst>
            </p:cNvPr>
            <p:cNvSpPr/>
            <p:nvPr/>
          </p:nvSpPr>
          <p:spPr>
            <a:xfrm>
              <a:off x="1998468" y="2987819"/>
              <a:ext cx="889099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75" dirty="0">
                  <a:solidFill>
                    <a:srgbClr val="647A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לפי אחוז</a:t>
              </a:r>
              <a:endParaRPr lang="en-US" sz="975" dirty="0"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C0DAA698-53BF-3431-4026-FA2CEE19A88A}"/>
                </a:ext>
              </a:extLst>
            </p:cNvPr>
            <p:cNvSpPr/>
            <p:nvPr/>
          </p:nvSpPr>
          <p:spPr>
            <a:xfrm>
              <a:off x="919018" y="2911619"/>
              <a:ext cx="965150" cy="314325"/>
            </a:xfrm>
            <a:prstGeom prst="roundRect">
              <a:avLst>
                <a:gd name="adj" fmla="val 30303"/>
              </a:avLst>
            </a:prstGeom>
            <a:solidFill>
              <a:srgbClr val="EEF3F1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73" name="Text 13">
              <a:extLst>
                <a:ext uri="{FF2B5EF4-FFF2-40B4-BE49-F238E27FC236}">
                  <a16:creationId xmlns:a16="http://schemas.microsoft.com/office/drawing/2014/main" id="{4BED8548-7663-C866-41A4-9FB46EA46A82}"/>
                </a:ext>
              </a:extLst>
            </p:cNvPr>
            <p:cNvSpPr/>
            <p:nvPr/>
          </p:nvSpPr>
          <p:spPr>
            <a:xfrm>
              <a:off x="957118" y="2987819"/>
              <a:ext cx="888950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75" dirty="0">
                  <a:solidFill>
                    <a:srgbClr val="647A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סכום</a:t>
              </a:r>
              <a:endParaRPr lang="en-US" sz="975" dirty="0"/>
            </a:p>
          </p:txBody>
        </p:sp>
        <p:sp>
          <p:nvSpPr>
            <p:cNvPr id="74" name="Text 14">
              <a:extLst>
                <a:ext uri="{FF2B5EF4-FFF2-40B4-BE49-F238E27FC236}">
                  <a16:creationId xmlns:a16="http://schemas.microsoft.com/office/drawing/2014/main" id="{1DC8B02B-C97B-C989-8C03-D36E0BEC6F28}"/>
                </a:ext>
              </a:extLst>
            </p:cNvPr>
            <p:cNvSpPr/>
            <p:nvPr/>
          </p:nvSpPr>
          <p:spPr>
            <a:xfrm>
              <a:off x="3757766" y="3359294"/>
              <a:ext cx="285452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421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ארד</a:t>
              </a:r>
              <a:endParaRPr lang="en-US" sz="1050" dirty="0"/>
            </a:p>
          </p:txBody>
        </p:sp>
        <p:sp>
          <p:nvSpPr>
            <p:cNvPr id="75" name="Text 15">
              <a:extLst>
                <a:ext uri="{FF2B5EF4-FFF2-40B4-BE49-F238E27FC236}">
                  <a16:creationId xmlns:a16="http://schemas.microsoft.com/office/drawing/2014/main" id="{427E4403-73F6-97D1-B6B1-9AE9C2B9F216}"/>
                </a:ext>
              </a:extLst>
            </p:cNvPr>
            <p:cNvSpPr/>
            <p:nvPr/>
          </p:nvSpPr>
          <p:spPr>
            <a:xfrm>
              <a:off x="919018" y="3359294"/>
              <a:ext cx="407491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421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₪100</a:t>
              </a:r>
              <a:endParaRPr lang="en-US" sz="1050" dirty="0"/>
            </a:p>
          </p:txBody>
        </p:sp>
        <p:sp>
          <p:nvSpPr>
            <p:cNvPr id="76" name="Text 16">
              <a:extLst>
                <a:ext uri="{FF2B5EF4-FFF2-40B4-BE49-F238E27FC236}">
                  <a16:creationId xmlns:a16="http://schemas.microsoft.com/office/drawing/2014/main" id="{43EF61A2-1871-FE93-9F75-8E7698A7CCC7}"/>
                </a:ext>
              </a:extLst>
            </p:cNvPr>
            <p:cNvSpPr/>
            <p:nvPr/>
          </p:nvSpPr>
          <p:spPr>
            <a:xfrm>
              <a:off x="3762379" y="3616469"/>
              <a:ext cx="28083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421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יואב</a:t>
              </a:r>
              <a:endParaRPr lang="en-US" sz="1050" dirty="0"/>
            </a:p>
          </p:txBody>
        </p:sp>
        <p:sp>
          <p:nvSpPr>
            <p:cNvPr id="77" name="Text 17">
              <a:extLst>
                <a:ext uri="{FF2B5EF4-FFF2-40B4-BE49-F238E27FC236}">
                  <a16:creationId xmlns:a16="http://schemas.microsoft.com/office/drawing/2014/main" id="{3C56345F-7265-168F-A0ED-762CDD08C14E}"/>
                </a:ext>
              </a:extLst>
            </p:cNvPr>
            <p:cNvSpPr/>
            <p:nvPr/>
          </p:nvSpPr>
          <p:spPr>
            <a:xfrm>
              <a:off x="919018" y="3616469"/>
              <a:ext cx="407491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421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₪100</a:t>
              </a:r>
              <a:endParaRPr lang="en-US" sz="1050" dirty="0"/>
            </a:p>
          </p:txBody>
        </p:sp>
        <p:sp>
          <p:nvSpPr>
            <p:cNvPr id="78" name="Text 18">
              <a:extLst>
                <a:ext uri="{FF2B5EF4-FFF2-40B4-BE49-F238E27FC236}">
                  <a16:creationId xmlns:a16="http://schemas.microsoft.com/office/drawing/2014/main" id="{DE0C50B2-B6E3-860F-07F5-9A65471FE6B3}"/>
                </a:ext>
              </a:extLst>
            </p:cNvPr>
            <p:cNvSpPr/>
            <p:nvPr/>
          </p:nvSpPr>
          <p:spPr>
            <a:xfrm>
              <a:off x="3682310" y="3873644"/>
              <a:ext cx="360908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1421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דניאל</a:t>
              </a:r>
              <a:endParaRPr lang="en-US" sz="1050" dirty="0"/>
            </a:p>
          </p:txBody>
        </p:sp>
        <p:sp>
          <p:nvSpPr>
            <p:cNvPr id="79" name="Text 19">
              <a:extLst>
                <a:ext uri="{FF2B5EF4-FFF2-40B4-BE49-F238E27FC236}">
                  <a16:creationId xmlns:a16="http://schemas.microsoft.com/office/drawing/2014/main" id="{40D39EAC-89DE-79F0-1961-F9A8076DA2E4}"/>
                </a:ext>
              </a:extLst>
            </p:cNvPr>
            <p:cNvSpPr/>
            <p:nvPr/>
          </p:nvSpPr>
          <p:spPr>
            <a:xfrm>
              <a:off x="919018" y="3873644"/>
              <a:ext cx="407491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421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₪100</a:t>
              </a:r>
              <a:endParaRPr lang="en-US" sz="1050" dirty="0"/>
            </a:p>
          </p:txBody>
        </p:sp>
        <p:sp>
          <p:nvSpPr>
            <p:cNvPr id="87" name="Shape 27">
              <a:extLst>
                <a:ext uri="{FF2B5EF4-FFF2-40B4-BE49-F238E27FC236}">
                  <a16:creationId xmlns:a16="http://schemas.microsoft.com/office/drawing/2014/main" id="{D669B634-3204-59D8-7024-44F05E4CF608}"/>
                </a:ext>
              </a:extLst>
            </p:cNvPr>
            <p:cNvSpPr/>
            <p:nvPr/>
          </p:nvSpPr>
          <p:spPr>
            <a:xfrm>
              <a:off x="802392" y="4391125"/>
              <a:ext cx="3352800" cy="438150"/>
            </a:xfrm>
            <a:prstGeom prst="roundRect">
              <a:avLst>
                <a:gd name="adj" fmla="val 30435"/>
              </a:avLst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he-IL"/>
            </a:p>
          </p:txBody>
        </p:sp>
        <p:sp>
          <p:nvSpPr>
            <p:cNvPr id="88" name="Text 28">
              <a:extLst>
                <a:ext uri="{FF2B5EF4-FFF2-40B4-BE49-F238E27FC236}">
                  <a16:creationId xmlns:a16="http://schemas.microsoft.com/office/drawing/2014/main" id="{15279BB6-F9CD-C958-74AD-2DDEF0250EEC}"/>
                </a:ext>
              </a:extLst>
            </p:cNvPr>
            <p:cNvSpPr/>
            <p:nvPr/>
          </p:nvSpPr>
          <p:spPr>
            <a:xfrm>
              <a:off x="855758" y="4404546"/>
              <a:ext cx="3186684" cy="57580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buNone/>
              </a:pPr>
              <a:r>
                <a:rPr lang="he-IL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הוספת ההוצאה</a:t>
              </a:r>
              <a:endParaRPr lang="en-US" dirty="0"/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9F164CAD-4DC9-AB7B-0D1F-EFFCE18B8883}"/>
                </a:ext>
              </a:extLst>
            </p:cNvPr>
            <p:cNvSpPr/>
            <p:nvPr/>
          </p:nvSpPr>
          <p:spPr>
            <a:xfrm>
              <a:off x="576118" y="1419659"/>
              <a:ext cx="3800764" cy="806160"/>
            </a:xfrm>
            <a:prstGeom prst="roundRect">
              <a:avLst/>
            </a:prstGeom>
            <a:solidFill>
              <a:srgbClr val="0C3B3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3" name="Text 3">
              <a:extLst>
                <a:ext uri="{FF2B5EF4-FFF2-40B4-BE49-F238E27FC236}">
                  <a16:creationId xmlns:a16="http://schemas.microsoft.com/office/drawing/2014/main" id="{3EC9BF8E-BF93-78D9-FCD6-2480CA798DFB}"/>
                </a:ext>
              </a:extLst>
            </p:cNvPr>
            <p:cNvSpPr/>
            <p:nvPr/>
          </p:nvSpPr>
          <p:spPr>
            <a:xfrm>
              <a:off x="718816" y="1540522"/>
              <a:ext cx="3604260" cy="2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dirty="0" err="1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חלוקה</a:t>
              </a:r>
              <a:r>
                <a:rPr lang="en-US" sz="1500" b="1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he-IL" sz="1500" b="1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ההוצאה המשותפת</a:t>
              </a:r>
              <a:endParaRPr lang="en-US" sz="1500" dirty="0">
                <a:solidFill>
                  <a:schemeClr val="bg1"/>
                </a:solidFill>
              </a:endParaRPr>
            </a:p>
          </p:txBody>
        </p:sp>
        <p:sp>
          <p:nvSpPr>
            <p:cNvPr id="64" name="Text 4">
              <a:extLst>
                <a:ext uri="{FF2B5EF4-FFF2-40B4-BE49-F238E27FC236}">
                  <a16:creationId xmlns:a16="http://schemas.microsoft.com/office/drawing/2014/main" id="{7E88E07B-6E49-B47E-342C-DEC0724137FA}"/>
                </a:ext>
              </a:extLst>
            </p:cNvPr>
            <p:cNvSpPr/>
            <p:nvPr/>
          </p:nvSpPr>
          <p:spPr>
            <a:xfrm>
              <a:off x="684838" y="1862558"/>
              <a:ext cx="3604260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75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דירה תל אביב</a:t>
              </a:r>
              <a:endParaRPr lang="en-US" sz="975" dirty="0">
                <a:solidFill>
                  <a:schemeClr val="bg1"/>
                </a:solidFill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C238C3B7-5AB6-1E32-608D-BEAE3612BECD}"/>
              </a:ext>
            </a:extLst>
          </p:cNvPr>
          <p:cNvSpPr txBox="1"/>
          <p:nvPr/>
        </p:nvSpPr>
        <p:spPr>
          <a:xfrm>
            <a:off x="-1" y="1089303"/>
            <a:ext cx="3052850" cy="31393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solidFill>
                  <a:schemeClr val="bg1"/>
                </a:solidFill>
              </a:rPr>
              <a:t>במסך זה יהיה אפשרות להכניס הוצאה משותפת לפי 3 אפשרויות: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</a:rPr>
              <a:t>חלוקה שווה של ההוצאה בין חברי הקבוצה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</a:rPr>
              <a:t>חלוקה לפי אחוזים לפי בחירה של המשתמש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</a:rPr>
              <a:t>חלוקה של סכום </a:t>
            </a:r>
            <a:r>
              <a:rPr lang="he-IL" dirty="0" err="1">
                <a:solidFill>
                  <a:schemeClr val="bg1"/>
                </a:solidFill>
              </a:rPr>
              <a:t>מדוייק</a:t>
            </a:r>
            <a:r>
              <a:rPr lang="he-IL" dirty="0">
                <a:solidFill>
                  <a:schemeClr val="bg1"/>
                </a:solidFill>
              </a:rPr>
              <a:t> לפי בחירת המשתמש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dirty="0">
              <a:solidFill>
                <a:schemeClr val="bg1"/>
              </a:solidFill>
            </a:endParaRPr>
          </a:p>
          <a:p>
            <a:pPr algn="r" rtl="1"/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51" name="Shape 0">
            <a:extLst>
              <a:ext uri="{FF2B5EF4-FFF2-40B4-BE49-F238E27FC236}">
                <a16:creationId xmlns:a16="http://schemas.microsoft.com/office/drawing/2014/main" id="{AFF3789E-0CDA-6C1E-8BDF-B2EF503D9756}"/>
              </a:ext>
            </a:extLst>
          </p:cNvPr>
          <p:cNvSpPr/>
          <p:nvPr/>
        </p:nvSpPr>
        <p:spPr>
          <a:xfrm>
            <a:off x="3052849" y="4762024"/>
            <a:ext cx="4000500" cy="4192748"/>
          </a:xfrm>
          <a:prstGeom prst="roundRect">
            <a:avLst>
              <a:gd name="adj" fmla="val 11429"/>
            </a:avLst>
          </a:prstGeom>
          <a:solidFill>
            <a:srgbClr val="0C3B36"/>
          </a:solidFill>
          <a:ln/>
          <a:effectLst>
            <a:outerShdw blurRad="857250" dist="381000" dir="5400000" algn="bl" rotWithShape="0">
              <a:srgbClr val="0C3B36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2" name="Shape 1">
            <a:extLst>
              <a:ext uri="{FF2B5EF4-FFF2-40B4-BE49-F238E27FC236}">
                <a16:creationId xmlns:a16="http://schemas.microsoft.com/office/drawing/2014/main" id="{6E37F30A-931E-DECF-136B-B939468EC239}"/>
              </a:ext>
            </a:extLst>
          </p:cNvPr>
          <p:cNvSpPr/>
          <p:nvPr/>
        </p:nvSpPr>
        <p:spPr>
          <a:xfrm>
            <a:off x="3186199" y="4895373"/>
            <a:ext cx="3733800" cy="3827713"/>
          </a:xfrm>
          <a:prstGeom prst="roundRect">
            <a:avLst>
              <a:gd name="adj" fmla="val 9184"/>
            </a:avLst>
          </a:prstGeom>
          <a:solidFill>
            <a:srgbClr val="EEF3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3" name="Shape 21">
            <a:extLst>
              <a:ext uri="{FF2B5EF4-FFF2-40B4-BE49-F238E27FC236}">
                <a16:creationId xmlns:a16="http://schemas.microsoft.com/office/drawing/2014/main" id="{CE38E460-9705-9297-DF3A-5F81656ACC28}"/>
              </a:ext>
            </a:extLst>
          </p:cNvPr>
          <p:cNvSpPr/>
          <p:nvPr/>
        </p:nvSpPr>
        <p:spPr>
          <a:xfrm>
            <a:off x="3399069" y="6193201"/>
            <a:ext cx="3352800" cy="1088246"/>
          </a:xfrm>
          <a:prstGeom prst="roundRect">
            <a:avLst>
              <a:gd name="adj" fmla="val 29167"/>
            </a:avLst>
          </a:prstGeom>
          <a:solidFill>
            <a:srgbClr val="D8F3EC"/>
          </a:solidFill>
          <a:ln w="9525">
            <a:solidFill>
              <a:srgbClr val="9AD9CC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169" name="Shape 21">
            <a:extLst>
              <a:ext uri="{FF2B5EF4-FFF2-40B4-BE49-F238E27FC236}">
                <a16:creationId xmlns:a16="http://schemas.microsoft.com/office/drawing/2014/main" id="{752DF5FF-36C9-C9B3-F3BB-D5F942B01C68}"/>
              </a:ext>
            </a:extLst>
          </p:cNvPr>
          <p:cNvSpPr/>
          <p:nvPr/>
        </p:nvSpPr>
        <p:spPr>
          <a:xfrm>
            <a:off x="3388129" y="5930976"/>
            <a:ext cx="3352800" cy="457200"/>
          </a:xfrm>
          <a:prstGeom prst="roundRect">
            <a:avLst>
              <a:gd name="adj" fmla="val 29167"/>
            </a:avLst>
          </a:prstGeom>
          <a:solidFill>
            <a:srgbClr val="D8F3EC"/>
          </a:solidFill>
          <a:ln w="9525">
            <a:solidFill>
              <a:srgbClr val="9AD9C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0" name="Text 22">
            <a:extLst>
              <a:ext uri="{FF2B5EF4-FFF2-40B4-BE49-F238E27FC236}">
                <a16:creationId xmlns:a16="http://schemas.microsoft.com/office/drawing/2014/main" id="{CFB6FFA5-D3CD-E72E-94C1-21594083139A}"/>
              </a:ext>
            </a:extLst>
          </p:cNvPr>
          <p:cNvSpPr/>
          <p:nvPr/>
        </p:nvSpPr>
        <p:spPr>
          <a:xfrm>
            <a:off x="5905557" y="6073851"/>
            <a:ext cx="7496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דניאל חייב לך</a:t>
            </a:r>
            <a:endParaRPr lang="en-US" sz="1050" dirty="0"/>
          </a:p>
        </p:txBody>
      </p:sp>
      <p:sp>
        <p:nvSpPr>
          <p:cNvPr id="171" name="Text 23">
            <a:extLst>
              <a:ext uri="{FF2B5EF4-FFF2-40B4-BE49-F238E27FC236}">
                <a16:creationId xmlns:a16="http://schemas.microsoft.com/office/drawing/2014/main" id="{221048DF-9E0B-948F-F50F-9461B6DF5255}"/>
              </a:ext>
            </a:extLst>
          </p:cNvPr>
          <p:cNvSpPr/>
          <p:nvPr/>
        </p:nvSpPr>
        <p:spPr>
          <a:xfrm>
            <a:off x="3550054" y="6073851"/>
            <a:ext cx="3699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₪80</a:t>
            </a:r>
            <a:endParaRPr lang="en-US" sz="1200" dirty="0"/>
          </a:p>
        </p:txBody>
      </p:sp>
      <p:sp>
        <p:nvSpPr>
          <p:cNvPr id="172" name="Shape 24">
            <a:extLst>
              <a:ext uri="{FF2B5EF4-FFF2-40B4-BE49-F238E27FC236}">
                <a16:creationId xmlns:a16="http://schemas.microsoft.com/office/drawing/2014/main" id="{E30A5F34-AD78-72F2-B258-D668E9C25BDB}"/>
              </a:ext>
            </a:extLst>
          </p:cNvPr>
          <p:cNvSpPr/>
          <p:nvPr/>
        </p:nvSpPr>
        <p:spPr>
          <a:xfrm>
            <a:off x="3399069" y="7513133"/>
            <a:ext cx="3352800" cy="457200"/>
          </a:xfrm>
          <a:prstGeom prst="roundRect">
            <a:avLst>
              <a:gd name="adj" fmla="val 29167"/>
            </a:avLst>
          </a:prstGeom>
          <a:solidFill>
            <a:srgbClr val="FDE8EC"/>
          </a:solidFill>
          <a:ln w="9525">
            <a:solidFill>
              <a:srgbClr val="F6B9C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3" name="Text 25">
            <a:extLst>
              <a:ext uri="{FF2B5EF4-FFF2-40B4-BE49-F238E27FC236}">
                <a16:creationId xmlns:a16="http://schemas.microsoft.com/office/drawing/2014/main" id="{EBD7F260-62E7-14F1-62E3-CFEB1ED79E1B}"/>
              </a:ext>
            </a:extLst>
          </p:cNvPr>
          <p:cNvSpPr/>
          <p:nvPr/>
        </p:nvSpPr>
        <p:spPr>
          <a:xfrm>
            <a:off x="5835385" y="7656008"/>
            <a:ext cx="8307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A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חייב ליואב</a:t>
            </a:r>
            <a:endParaRPr lang="en-US" sz="1050" dirty="0"/>
          </a:p>
        </p:txBody>
      </p:sp>
      <p:sp>
        <p:nvSpPr>
          <p:cNvPr id="174" name="Text 26">
            <a:extLst>
              <a:ext uri="{FF2B5EF4-FFF2-40B4-BE49-F238E27FC236}">
                <a16:creationId xmlns:a16="http://schemas.microsoft.com/office/drawing/2014/main" id="{14F788B7-57A0-D7AA-530D-A946D1E400FB}"/>
              </a:ext>
            </a:extLst>
          </p:cNvPr>
          <p:cNvSpPr/>
          <p:nvPr/>
        </p:nvSpPr>
        <p:spPr>
          <a:xfrm>
            <a:off x="3560994" y="7656008"/>
            <a:ext cx="3699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₪45</a:t>
            </a:r>
            <a:endParaRPr lang="en-US" sz="1200" dirty="0"/>
          </a:p>
        </p:txBody>
      </p:sp>
      <p:sp>
        <p:nvSpPr>
          <p:cNvPr id="175" name="Shape 27">
            <a:extLst>
              <a:ext uri="{FF2B5EF4-FFF2-40B4-BE49-F238E27FC236}">
                <a16:creationId xmlns:a16="http://schemas.microsoft.com/office/drawing/2014/main" id="{F9F00ABF-3A0B-0EAA-AA59-A3F0BEA87EA6}"/>
              </a:ext>
            </a:extLst>
          </p:cNvPr>
          <p:cNvSpPr/>
          <p:nvPr/>
        </p:nvSpPr>
        <p:spPr>
          <a:xfrm>
            <a:off x="3376699" y="8118249"/>
            <a:ext cx="3352800" cy="438150"/>
          </a:xfrm>
          <a:prstGeom prst="roundRect">
            <a:avLst>
              <a:gd name="adj" fmla="val 30435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6" name="Text 28">
            <a:extLst>
              <a:ext uri="{FF2B5EF4-FFF2-40B4-BE49-F238E27FC236}">
                <a16:creationId xmlns:a16="http://schemas.microsoft.com/office/drawing/2014/main" id="{135963BD-E7F8-A45B-0D61-574BE0E5300F}"/>
              </a:ext>
            </a:extLst>
          </p:cNvPr>
          <p:cNvSpPr/>
          <p:nvPr/>
        </p:nvSpPr>
        <p:spPr>
          <a:xfrm>
            <a:off x="3363541" y="8118250"/>
            <a:ext cx="3186684" cy="600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סימון חוב כשולם</a:t>
            </a:r>
            <a:endParaRPr lang="en-US" sz="1600" dirty="0"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65559904-565D-954B-CA2A-1566CDA76BBE}"/>
              </a:ext>
            </a:extLst>
          </p:cNvPr>
          <p:cNvSpPr/>
          <p:nvPr/>
        </p:nvSpPr>
        <p:spPr>
          <a:xfrm>
            <a:off x="3186199" y="4870263"/>
            <a:ext cx="3800764" cy="806160"/>
          </a:xfrm>
          <a:prstGeom prst="roundRect">
            <a:avLst/>
          </a:prstGeom>
          <a:solidFill>
            <a:srgbClr val="0C3B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8" name="Text 3">
            <a:extLst>
              <a:ext uri="{FF2B5EF4-FFF2-40B4-BE49-F238E27FC236}">
                <a16:creationId xmlns:a16="http://schemas.microsoft.com/office/drawing/2014/main" id="{353A55D1-5D5F-8A63-B845-90EC5378DFA0}"/>
              </a:ext>
            </a:extLst>
          </p:cNvPr>
          <p:cNvSpPr/>
          <p:nvPr/>
        </p:nvSpPr>
        <p:spPr>
          <a:xfrm>
            <a:off x="3328897" y="4991126"/>
            <a:ext cx="36042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he-IL" sz="15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סיכום חובות וזכויות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79" name="Text 4">
            <a:extLst>
              <a:ext uri="{FF2B5EF4-FFF2-40B4-BE49-F238E27FC236}">
                <a16:creationId xmlns:a16="http://schemas.microsoft.com/office/drawing/2014/main" id="{60CFAFA4-9750-4C1F-BBB7-00A63370E9AB}"/>
              </a:ext>
            </a:extLst>
          </p:cNvPr>
          <p:cNvSpPr/>
          <p:nvPr/>
        </p:nvSpPr>
        <p:spPr>
          <a:xfrm>
            <a:off x="3294919" y="5313162"/>
            <a:ext cx="36042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דירה תל אביב</a:t>
            </a:r>
            <a:endParaRPr lang="en-US" sz="975" dirty="0">
              <a:solidFill>
                <a:schemeClr val="bg1"/>
              </a:solidFill>
            </a:endParaRPr>
          </a:p>
        </p:txBody>
      </p:sp>
      <p:sp>
        <p:nvSpPr>
          <p:cNvPr id="181" name="Arrow: Left 180">
            <a:extLst>
              <a:ext uri="{FF2B5EF4-FFF2-40B4-BE49-F238E27FC236}">
                <a16:creationId xmlns:a16="http://schemas.microsoft.com/office/drawing/2014/main" id="{5826B770-9E7D-0A5C-3560-7649457C7C0C}"/>
              </a:ext>
            </a:extLst>
          </p:cNvPr>
          <p:cNvSpPr/>
          <p:nvPr/>
        </p:nvSpPr>
        <p:spPr>
          <a:xfrm rot="20059083">
            <a:off x="6754133" y="4819916"/>
            <a:ext cx="1802860" cy="876300"/>
          </a:xfrm>
          <a:prstGeom prst="leftArrow">
            <a:avLst/>
          </a:prstGeom>
          <a:solidFill>
            <a:srgbClr val="14C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DAD1BCB-5738-E433-7573-AFA05ADE73F3}"/>
              </a:ext>
            </a:extLst>
          </p:cNvPr>
          <p:cNvSpPr txBox="1"/>
          <p:nvPr/>
        </p:nvSpPr>
        <p:spPr>
          <a:xfrm>
            <a:off x="53373" y="4895373"/>
            <a:ext cx="2893027" cy="25853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solidFill>
                  <a:schemeClr val="bg1"/>
                </a:solidFill>
              </a:rPr>
              <a:t>במסך הזה יהיו סיכום חובות וזכויות של חברי הקבוצה ואפשרות לעדכן שהחוב שולם</a:t>
            </a:r>
          </a:p>
          <a:p>
            <a:pPr algn="r" rtl="1"/>
            <a:endParaRPr lang="he-IL" dirty="0">
              <a:solidFill>
                <a:schemeClr val="bg1"/>
              </a:solidFill>
            </a:endParaRPr>
          </a:p>
          <a:p>
            <a:pPr algn="r" rtl="1"/>
            <a:r>
              <a:rPr lang="he-IL" dirty="0">
                <a:solidFill>
                  <a:schemeClr val="bg1"/>
                </a:solidFill>
              </a:rPr>
              <a:t>בנוסך יהיה חלונית שנפתחת על כל חבר קבוצה שמפרט את היסטוריית התשלומים מאז הפעם האחרונה שהוסדר החוב מולו</a:t>
            </a:r>
          </a:p>
        </p:txBody>
      </p:sp>
      <p:sp>
        <p:nvSpPr>
          <p:cNvPr id="184" name="Text 22">
            <a:extLst>
              <a:ext uri="{FF2B5EF4-FFF2-40B4-BE49-F238E27FC236}">
                <a16:creationId xmlns:a16="http://schemas.microsoft.com/office/drawing/2014/main" id="{DBE82ACC-CA13-012F-732D-9ECB6EEA2A4E}"/>
              </a:ext>
            </a:extLst>
          </p:cNvPr>
          <p:cNvSpPr/>
          <p:nvPr/>
        </p:nvSpPr>
        <p:spPr>
          <a:xfrm>
            <a:off x="3567200" y="6427423"/>
            <a:ext cx="3037100" cy="87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 rtl="1">
              <a:buNone/>
            </a:pPr>
            <a:r>
              <a:rPr lang="he-IL" sz="1050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פירוט:</a:t>
            </a:r>
            <a:br>
              <a:rPr lang="en-US" sz="1050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he-IL" sz="1050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חשבון אינטרנט – 01/05/25 אתה חייב לדניאל  30 ש"ח</a:t>
            </a:r>
          </a:p>
          <a:p>
            <a:pPr marL="0" indent="0" algn="r" rtl="1">
              <a:buNone/>
            </a:pPr>
            <a:r>
              <a:rPr lang="he-IL" sz="1050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ערב פיצות – 10/05/26 דניאל חייב לך 50 ₪</a:t>
            </a:r>
          </a:p>
          <a:p>
            <a:pPr algn="r" rtl="1"/>
            <a:r>
              <a:rPr lang="he-IL" sz="1050" dirty="0">
                <a:solidFill>
                  <a:srgbClr val="0C443D"/>
                </a:solidFill>
                <a:latin typeface="Arial" pitchFamily="34" charset="0"/>
                <a:cs typeface="Arial" pitchFamily="34" charset="-120"/>
              </a:rPr>
              <a:t>סרט בקולנוע – 24/05/26 </a:t>
            </a:r>
            <a:r>
              <a:rPr lang="he-IL" sz="1050" dirty="0">
                <a:solidFill>
                  <a:srgbClr val="0C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דניאל חייב לך </a:t>
            </a:r>
            <a:r>
              <a:rPr lang="he-IL" sz="1050" dirty="0">
                <a:solidFill>
                  <a:srgbClr val="0C443D"/>
                </a:solidFill>
                <a:latin typeface="Arial" pitchFamily="34" charset="0"/>
                <a:cs typeface="Arial" pitchFamily="34" charset="-120"/>
              </a:rPr>
              <a:t>60 ₪</a:t>
            </a:r>
          </a:p>
          <a:p>
            <a:pPr marL="0" indent="0" algn="r" rtl="1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335250" y="-1428750"/>
            <a:ext cx="4381500" cy="4381500"/>
          </a:xfrm>
          <a:prstGeom prst="ellipse">
            <a:avLst/>
          </a:prstGeom>
          <a:ln w="254000">
            <a:solidFill>
              <a:srgbClr val="5EEAD4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9684246" y="3173909"/>
            <a:ext cx="552450" cy="55245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9836646" y="3326309"/>
            <a:ext cx="247650" cy="247650"/>
          </a:xfrm>
          <a:prstGeom prst="ellipse">
            <a:avLst/>
          </a:prstGeom>
          <a:solidFill>
            <a:srgbClr val="0C3B3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7978386" y="3288209"/>
            <a:ext cx="16074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E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</a:t>
            </a:r>
            <a:r>
              <a:rPr lang="en-US" sz="2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827045" y="4107359"/>
            <a:ext cx="6634060" cy="1546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E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עוד </a:t>
            </a:r>
            <a:r>
              <a:rPr lang="en-US" sz="5400" b="1" dirty="0" err="1">
                <a:solidFill>
                  <a:srgbClr val="E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טבלאות</a:t>
            </a:r>
            <a:r>
              <a:rPr lang="en-US" sz="5400" b="1" dirty="0">
                <a:solidFill>
                  <a:srgbClr val="E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5400" b="1" dirty="0">
                <a:solidFill>
                  <a:srgbClr val="E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אלא</a:t>
            </a:r>
            <a:br>
              <a:rPr lang="en-US" sz="5400" b="1" dirty="0">
                <a:solidFill>
                  <a:srgbClr val="E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5400" b="1" dirty="0" err="1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</a:t>
            </a:r>
            <a:r>
              <a:rPr lang="en-US" sz="5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שמניעות לפעולה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955939" y="5882580"/>
            <a:ext cx="837627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 rtl="1">
              <a:lnSpc>
                <a:spcPct val="160000"/>
              </a:lnSpc>
              <a:buNone/>
            </a:pPr>
            <a:r>
              <a:rPr lang="en-US" sz="2025" dirty="0">
                <a:solidFill>
                  <a:srgbClr val="BF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אישי, ניתוח נתונים ושיתוף בקבוצה — הכל באפליקציה אחת, מסונכרנת בענן.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4708</TotalTime>
  <Words>1130</Words>
  <Application>Microsoft Office PowerPoint</Application>
  <PresentationFormat>Custom</PresentationFormat>
  <Paragraphs>221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Guttman Yad-Brush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arad rotem</cp:lastModifiedBy>
  <cp:revision>10</cp:revision>
  <dcterms:created xsi:type="dcterms:W3CDTF">2026-06-30T12:02:13Z</dcterms:created>
  <dcterms:modified xsi:type="dcterms:W3CDTF">2026-07-04T17:00:51Z</dcterms:modified>
</cp:coreProperties>
</file>